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59" r:id="rId4"/>
    <p:sldId id="258" r:id="rId5"/>
    <p:sldId id="260" r:id="rId6"/>
    <p:sldId id="262" r:id="rId7"/>
    <p:sldId id="263" r:id="rId8"/>
    <p:sldId id="264" r:id="rId9"/>
    <p:sldId id="265" r:id="rId10"/>
    <p:sldId id="266" r:id="rId11"/>
    <p:sldId id="267" r:id="rId12"/>
    <p:sldId id="268" r:id="rId13"/>
    <p:sldId id="272" r:id="rId14"/>
    <p:sldId id="27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82" d="100"/>
          <a:sy n="82" d="100"/>
        </p:scale>
        <p:origin x="720" y="7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08F5E2-F6AF-4918-91E9-11711BF7CE9B}" type="datetimeFigureOut">
              <a:rPr lang="en-IN" smtClean="0"/>
              <a:t>16-06-2026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7C60BB-7384-466F-9214-E0C6D372C2C2}" type="slidenum">
              <a:rPr lang="en-IN" smtClean="0"/>
              <a:t>‹#›</a:t>
            </a:fld>
            <a:endParaRPr lang="en-IN"/>
          </a:p>
        </p:txBody>
      </p:sp>
    </p:spTree>
    <p:extLst>
      <p:ext uri="{BB962C8B-B14F-4D97-AF65-F5344CB8AC3E}">
        <p14:creationId xmlns:p14="http://schemas.microsoft.com/office/powerpoint/2010/main" val="56556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 am here to present my project work titled </a:t>
            </a:r>
            <a:r>
              <a:rPr lang="en-US" b="1" dirty="0"/>
              <a:t>‘SIEM Analysis with Splunk BOTSv1 Logs’</a:t>
            </a:r>
            <a:r>
              <a:rPr lang="en-US" dirty="0"/>
              <a:t>.</a:t>
            </a:r>
          </a:p>
          <a:p>
            <a:r>
              <a:rPr lang="en-US" dirty="0"/>
              <a:t>This project was carried out under the guidance of my </a:t>
            </a:r>
            <a:r>
              <a:rPr lang="en-US" b="1" dirty="0"/>
              <a:t>Internal Guide, Mr. Narayana Prakash S,</a:t>
            </a:r>
            <a:r>
              <a:rPr lang="en-US" dirty="0"/>
              <a:t>, and my </a:t>
            </a:r>
            <a:r>
              <a:rPr lang="en-US" b="1" dirty="0"/>
              <a:t>External Guide, Mr. Naveen Chandra Kumar, Assistant Professor and Chairman</a:t>
            </a:r>
            <a:r>
              <a:rPr lang="en-US" dirty="0"/>
              <a:t>.</a:t>
            </a:r>
          </a:p>
          <a:p>
            <a:r>
              <a:rPr lang="en-US" dirty="0"/>
              <a:t>With that, I would now like to take you through the </a:t>
            </a:r>
            <a:r>
              <a:rPr lang="en-US" b="1" dirty="0"/>
              <a:t>Table of Contents</a:t>
            </a:r>
            <a:r>
              <a:rPr lang="en-US" dirty="0"/>
              <a:t> of my presentation.</a:t>
            </a:r>
          </a:p>
          <a:p>
            <a:endParaRPr lang="en-IN" dirty="0"/>
          </a:p>
        </p:txBody>
      </p:sp>
      <p:sp>
        <p:nvSpPr>
          <p:cNvPr id="4" name="Slide Number Placeholder 3"/>
          <p:cNvSpPr>
            <a:spLocks noGrp="1"/>
          </p:cNvSpPr>
          <p:nvPr>
            <p:ph type="sldNum" sz="quarter" idx="5"/>
          </p:nvPr>
        </p:nvSpPr>
        <p:spPr/>
        <p:txBody>
          <a:bodyPr/>
          <a:lstStyle/>
          <a:p>
            <a:fld id="{497C60BB-7384-466F-9214-E0C6D372C2C2}" type="slidenum">
              <a:rPr lang="en-IN" smtClean="0"/>
              <a:t>1</a:t>
            </a:fld>
            <a:endParaRPr lang="en-IN"/>
          </a:p>
        </p:txBody>
      </p:sp>
    </p:spTree>
    <p:extLst>
      <p:ext uri="{BB962C8B-B14F-4D97-AF65-F5344CB8AC3E}">
        <p14:creationId xmlns:p14="http://schemas.microsoft.com/office/powerpoint/2010/main" val="339483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project is organized into several sections. It begins with the </a:t>
            </a:r>
            <a:r>
              <a:rPr lang="en-US" b="1" dirty="0"/>
              <a:t>Introduction</a:t>
            </a:r>
            <a:r>
              <a:rPr lang="en-US" dirty="0"/>
              <a:t>, followed by the </a:t>
            </a:r>
            <a:r>
              <a:rPr lang="en-US" b="1" dirty="0"/>
              <a:t>Objective of the project</a:t>
            </a:r>
            <a:r>
              <a:rPr lang="en-US" dirty="0"/>
              <a:t>. Next, I discuss the </a:t>
            </a:r>
            <a:r>
              <a:rPr lang="en-US" b="1" dirty="0"/>
              <a:t>Industry </a:t>
            </a:r>
            <a:r>
              <a:rPr lang="en-US" b="1" dirty="0" err="1"/>
              <a:t>relavence</a:t>
            </a:r>
            <a:r>
              <a:rPr lang="en-US" b="1" dirty="0"/>
              <a:t> and </a:t>
            </a:r>
            <a:r>
              <a:rPr lang="en-US" dirty="0"/>
              <a:t>to show why the work is significant. The </a:t>
            </a:r>
            <a:r>
              <a:rPr lang="en-US" b="1" dirty="0"/>
              <a:t>Methodology</a:t>
            </a:r>
            <a:r>
              <a:rPr lang="en-US" dirty="0"/>
              <a:t> section explains the step-by-step approach, while the </a:t>
            </a:r>
            <a:r>
              <a:rPr lang="en-US" b="1" dirty="0"/>
              <a:t>Dataset (BOTSv1) and Splunk</a:t>
            </a:r>
            <a:r>
              <a:rPr lang="en-US" dirty="0"/>
              <a:t> part describes the data sources and tools used. I then cover </a:t>
            </a:r>
            <a:r>
              <a:rPr lang="en-US" b="1" dirty="0"/>
              <a:t>Threat Detection, Visualizations, and Alerts</a:t>
            </a:r>
            <a:r>
              <a:rPr lang="en-US" dirty="0"/>
              <a:t> generated during the analysis. After that, the </a:t>
            </a:r>
            <a:r>
              <a:rPr lang="en-US" b="1" dirty="0"/>
              <a:t>Results and Limitations</a:t>
            </a:r>
            <a:r>
              <a:rPr lang="en-US" dirty="0"/>
              <a:t> are presented, followed by the </a:t>
            </a:r>
            <a:r>
              <a:rPr lang="en-US" b="1" dirty="0"/>
              <a:t>Future Scope and Industry Adoption</a:t>
            </a:r>
            <a:r>
              <a:rPr lang="en-US" dirty="0"/>
              <a:t>. Finally, the project concludes with the </a:t>
            </a:r>
            <a:r>
              <a:rPr lang="en-US" b="1" dirty="0"/>
              <a:t>Conclusion</a:t>
            </a:r>
            <a:r>
              <a:rPr lang="en-US" dirty="0"/>
              <a:t>, summarizing the overall contribution of the work.</a:t>
            </a:r>
            <a:endParaRPr lang="en-IN" dirty="0"/>
          </a:p>
        </p:txBody>
      </p:sp>
      <p:sp>
        <p:nvSpPr>
          <p:cNvPr id="4" name="Slide Number Placeholder 3"/>
          <p:cNvSpPr>
            <a:spLocks noGrp="1"/>
          </p:cNvSpPr>
          <p:nvPr>
            <p:ph type="sldNum" sz="quarter" idx="5"/>
          </p:nvPr>
        </p:nvSpPr>
        <p:spPr/>
        <p:txBody>
          <a:bodyPr/>
          <a:lstStyle/>
          <a:p>
            <a:fld id="{497C60BB-7384-466F-9214-E0C6D372C2C2}" type="slidenum">
              <a:rPr lang="en-IN" smtClean="0"/>
              <a:t>2</a:t>
            </a:fld>
            <a:endParaRPr lang="en-IN"/>
          </a:p>
        </p:txBody>
      </p:sp>
    </p:spTree>
    <p:extLst>
      <p:ext uri="{BB962C8B-B14F-4D97-AF65-F5344CB8AC3E}">
        <p14:creationId xmlns:p14="http://schemas.microsoft.com/office/powerpoint/2010/main" val="1416469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moving on the introduction ,  </a:t>
            </a:r>
          </a:p>
          <a:p>
            <a:r>
              <a:rPr lang="en-US" dirty="0"/>
              <a:t>In today’s digital world. Org face more threats from cyberattacks such as phis, malware, Ransomware, and </a:t>
            </a:r>
            <a:r>
              <a:rPr lang="en-US" dirty="0" err="1"/>
              <a:t>intside</a:t>
            </a:r>
            <a:r>
              <a:rPr lang="en-US" dirty="0"/>
              <a:t> </a:t>
            </a:r>
            <a:r>
              <a:rPr lang="en-US" dirty="0" err="1"/>
              <a:t>therats</a:t>
            </a:r>
            <a:r>
              <a:rPr lang="en-US" dirty="0"/>
              <a:t>. </a:t>
            </a:r>
          </a:p>
          <a:p>
            <a:r>
              <a:rPr lang="en-US" dirty="0"/>
              <a:t>Every system , applications, and n/w devices generate’s logs that contain valuable </a:t>
            </a:r>
            <a:r>
              <a:rPr lang="en-US" dirty="0" err="1"/>
              <a:t>informations</a:t>
            </a:r>
            <a:r>
              <a:rPr lang="en-US" dirty="0"/>
              <a:t> about activities happening inside the environment.</a:t>
            </a:r>
          </a:p>
          <a:p>
            <a:r>
              <a:rPr lang="en-US" dirty="0"/>
              <a:t>However due to massive amount of data being produced every second, it is almost impossible for security teams to manually review and detect suspicious activities. So splunk provides Centralized Detection and analysis. </a:t>
            </a:r>
          </a:p>
          <a:p>
            <a:r>
              <a:rPr lang="en-US" dirty="0"/>
              <a:t>And the project </a:t>
            </a:r>
            <a:r>
              <a:rPr lang="en-US" sz="1200" dirty="0">
                <a:latin typeface="Times New Roman" panose="02020603050405020304" pitchFamily="18" charset="0"/>
                <a:cs typeface="Times New Roman" panose="02020603050405020304" pitchFamily="18" charset="0"/>
              </a:rPr>
              <a:t>highlights how Splunk transforms raw logs into actionable security intelligence.</a:t>
            </a:r>
            <a:endParaRPr lang="en-IN" dirty="0"/>
          </a:p>
        </p:txBody>
      </p:sp>
      <p:sp>
        <p:nvSpPr>
          <p:cNvPr id="4" name="Slide Number Placeholder 3"/>
          <p:cNvSpPr>
            <a:spLocks noGrp="1"/>
          </p:cNvSpPr>
          <p:nvPr>
            <p:ph type="sldNum" sz="quarter" idx="5"/>
          </p:nvPr>
        </p:nvSpPr>
        <p:spPr/>
        <p:txBody>
          <a:bodyPr/>
          <a:lstStyle/>
          <a:p>
            <a:fld id="{497C60BB-7384-466F-9214-E0C6D372C2C2}" type="slidenum">
              <a:rPr lang="en-IN" smtClean="0"/>
              <a:t>3</a:t>
            </a:fld>
            <a:endParaRPr lang="en-IN"/>
          </a:p>
        </p:txBody>
      </p:sp>
    </p:spTree>
    <p:extLst>
      <p:ext uri="{BB962C8B-B14F-4D97-AF65-F5344CB8AC3E}">
        <p14:creationId xmlns:p14="http://schemas.microsoft.com/office/powerpoint/2010/main" val="42322565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main objective of this project is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analyze real-world security logs using Splunk and show the importance of SIEM in cybersecurity.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Using the BOTSv1 dataset, the project simulates real attack scenarios like brute-force attempts, malware, and lateral movement. The aim is to perform data ingestion and log analysis in Splunk, to detect and investigate attacks, and configure real-time alerts for monitoring.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Overall, the objective is to demonstrate how Splunk helps turn raw logs into actionable insights for better threat detection and response.”</a:t>
            </a:r>
          </a:p>
        </p:txBody>
      </p:sp>
      <p:sp>
        <p:nvSpPr>
          <p:cNvPr id="4" name="Slide Number Placeholder 3"/>
          <p:cNvSpPr>
            <a:spLocks noGrp="1"/>
          </p:cNvSpPr>
          <p:nvPr>
            <p:ph type="sldNum" sz="quarter" idx="5"/>
          </p:nvPr>
        </p:nvSpPr>
        <p:spPr/>
        <p:txBody>
          <a:bodyPr/>
          <a:lstStyle/>
          <a:p>
            <a:fld id="{497C60BB-7384-466F-9214-E0C6D372C2C2}" type="slidenum">
              <a:rPr lang="en-IN" smtClean="0"/>
              <a:t>4</a:t>
            </a:fld>
            <a:endParaRPr lang="en-IN"/>
          </a:p>
        </p:txBody>
      </p:sp>
    </p:spTree>
    <p:extLst>
      <p:ext uri="{BB962C8B-B14F-4D97-AF65-F5344CB8AC3E}">
        <p14:creationId xmlns:p14="http://schemas.microsoft.com/office/powerpoint/2010/main" val="3235638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Real-world application</a:t>
            </a:r>
            <a:r>
              <a:rPr lang="en-US" dirty="0"/>
              <a:t> – SIEM tools like Splunk are widely used in enterprises for monitoring and threat detection.</a:t>
            </a:r>
          </a:p>
          <a:p>
            <a:r>
              <a:rPr lang="en-US" b="1" dirty="0"/>
              <a:t>High demand in SOCs</a:t>
            </a:r>
            <a:r>
              <a:rPr lang="en-US" dirty="0"/>
              <a:t> – SOC rely on Splunk dashboards, correlation, and alerts for day-to-day operations.</a:t>
            </a:r>
          </a:p>
          <a:p>
            <a:r>
              <a:rPr lang="en-US" b="1" dirty="0"/>
              <a:t>Cross-industry adoption</a:t>
            </a:r>
            <a:r>
              <a:rPr lang="en-US" dirty="0"/>
              <a:t> – Banking, healthcare, government, and IT companies actively use Splunk for compliance and security.</a:t>
            </a:r>
          </a:p>
          <a:p>
            <a:r>
              <a:rPr lang="en-US" b="1" dirty="0"/>
              <a:t>Regulatory compliance</a:t>
            </a:r>
            <a:r>
              <a:rPr lang="en-US" dirty="0"/>
              <a:t> – Supports industries in meeting standards like GDPR, HIPAA, and PCI-DSS.</a:t>
            </a:r>
          </a:p>
          <a:p>
            <a:r>
              <a:rPr lang="en-US" b="1" dirty="0"/>
              <a:t>Skill relevance</a:t>
            </a:r>
            <a:r>
              <a:rPr lang="en-US" dirty="0"/>
              <a:t> – Hands-on experience with Splunk aligns with industry needs for cybersecurity professionals.</a:t>
            </a:r>
          </a:p>
          <a:p>
            <a:r>
              <a:rPr lang="en-US" b="1" dirty="0"/>
              <a:t>Faster response to threats</a:t>
            </a:r>
            <a:r>
              <a:rPr lang="en-US" dirty="0"/>
              <a:t> – Directly helps organizations minimize risk by reducing detection and incident response time.</a:t>
            </a:r>
          </a:p>
          <a:p>
            <a:endParaRPr lang="en-IN" dirty="0"/>
          </a:p>
          <a:p>
            <a:r>
              <a:rPr lang="en-US" dirty="0"/>
              <a:t>“This project is highly relevant to the industry because SIEM tools like Splunk are widely used by organizations to monitor and detect threats in real time. Security Operations Centers across banking, healthcare, government, and IT rely on Splunk for daily operations and compliance with regulations such as GDPR, HIPAA, and PCI-DSS. By working with Splunk, this project directly reflects real-world practices, as it shows how organizations reduce detection and response times. Most importantly, the skills gained from this project match the growing demand for cybersecurity professionals in the industry.</a:t>
            </a:r>
          </a:p>
        </p:txBody>
      </p:sp>
      <p:sp>
        <p:nvSpPr>
          <p:cNvPr id="4" name="Slide Number Placeholder 3"/>
          <p:cNvSpPr>
            <a:spLocks noGrp="1"/>
          </p:cNvSpPr>
          <p:nvPr>
            <p:ph type="sldNum" sz="quarter" idx="5"/>
          </p:nvPr>
        </p:nvSpPr>
        <p:spPr/>
        <p:txBody>
          <a:bodyPr/>
          <a:lstStyle/>
          <a:p>
            <a:fld id="{497C60BB-7384-466F-9214-E0C6D372C2C2}" type="slidenum">
              <a:rPr lang="en-IN" smtClean="0"/>
              <a:t>5</a:t>
            </a:fld>
            <a:endParaRPr lang="en-IN"/>
          </a:p>
        </p:txBody>
      </p:sp>
    </p:spTree>
    <p:extLst>
      <p:ext uri="{BB962C8B-B14F-4D97-AF65-F5344CB8AC3E}">
        <p14:creationId xmlns:p14="http://schemas.microsoft.com/office/powerpoint/2010/main" val="1894571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9A7AC-7372-C028-B804-875B3ADACE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66164-9194-5D68-8BD7-9643C0714C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D06E02-CF1A-1B18-B707-93DAA23926E7}"/>
              </a:ext>
            </a:extLst>
          </p:cNvPr>
          <p:cNvSpPr>
            <a:spLocks noGrp="1"/>
          </p:cNvSpPr>
          <p:nvPr>
            <p:ph type="body" idx="1"/>
          </p:nvPr>
        </p:nvSpPr>
        <p:spPr/>
        <p:txBody>
          <a:bodyPr/>
          <a:lstStyle/>
          <a:p>
            <a:r>
              <a:rPr lang="en-US" dirty="0"/>
              <a:t>The methodology of this project was carried out step by step to simulate a real SOC environment.</a:t>
            </a:r>
          </a:p>
          <a:p>
            <a:r>
              <a:rPr lang="en-US" dirty="0"/>
              <a:t>First, the BOTSv1 dataset was selected, as it contains realistic enterprise attack scenarios.</a:t>
            </a:r>
          </a:p>
          <a:p>
            <a:r>
              <a:rPr lang="en-US" dirty="0"/>
              <a:t> Next, the dataset was ingested into Splunk for indexing and analysis. </a:t>
            </a:r>
          </a:p>
          <a:p>
            <a:r>
              <a:rPr lang="en-US" dirty="0"/>
              <a:t>After preparing the data, and focused on searching and analyzing logs to identify patterns of cyberattacks such as brute force and malware infections. </a:t>
            </a:r>
          </a:p>
          <a:p>
            <a:r>
              <a:rPr lang="en-US" dirty="0"/>
              <a:t>Based on this analysis, dashboards were created to visualize security events more clearly. </a:t>
            </a:r>
          </a:p>
          <a:p>
            <a:r>
              <a:rPr lang="en-US" dirty="0"/>
              <a:t>Finally, alerts were configured in Splunk for real-time monitoring, which helped in detecting and responding to threats quickly. This structured methodology ensured that every stage of the project was practical and closely related to real-world security operations.”</a:t>
            </a:r>
          </a:p>
        </p:txBody>
      </p:sp>
      <p:sp>
        <p:nvSpPr>
          <p:cNvPr id="4" name="Slide Number Placeholder 3">
            <a:extLst>
              <a:ext uri="{FF2B5EF4-FFF2-40B4-BE49-F238E27FC236}">
                <a16:creationId xmlns:a16="http://schemas.microsoft.com/office/drawing/2014/main" id="{7FFB0028-5ADB-D2DF-2C7D-8ABC66A0C5D5}"/>
              </a:ext>
            </a:extLst>
          </p:cNvPr>
          <p:cNvSpPr>
            <a:spLocks noGrp="1"/>
          </p:cNvSpPr>
          <p:nvPr>
            <p:ph type="sldNum" sz="quarter" idx="5"/>
          </p:nvPr>
        </p:nvSpPr>
        <p:spPr/>
        <p:txBody>
          <a:bodyPr/>
          <a:lstStyle/>
          <a:p>
            <a:fld id="{497C60BB-7384-466F-9214-E0C6D372C2C2}" type="slidenum">
              <a:rPr lang="en-IN" smtClean="0"/>
              <a:t>6</a:t>
            </a:fld>
            <a:endParaRPr lang="en-IN"/>
          </a:p>
        </p:txBody>
      </p:sp>
    </p:spTree>
    <p:extLst>
      <p:ext uri="{BB962C8B-B14F-4D97-AF65-F5344CB8AC3E}">
        <p14:creationId xmlns:p14="http://schemas.microsoft.com/office/powerpoint/2010/main" val="2472541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project, the BOTSv1 dataset was used, which is a well-known open-source dataset provided by Splunk. </a:t>
            </a:r>
          </a:p>
          <a:p>
            <a:r>
              <a:rPr lang="en-US" dirty="0"/>
              <a:t>It simulates a real enterprise environment by including logs from Windows Event Logs, Sysmon, DNS, Proxy, and Firewall, along with ground-truth attack labels. </a:t>
            </a:r>
          </a:p>
          <a:p>
            <a:r>
              <a:rPr lang="en-US" dirty="0"/>
              <a:t>This made it possible to study both normal business operations and malicious activities in a controlled way.</a:t>
            </a:r>
          </a:p>
          <a:p>
            <a:r>
              <a:rPr lang="en-US" dirty="0"/>
              <a:t> The dataset was ingested into Splunk, which served as the SIEM platform for indexing, searching, and analyzing the logs. </a:t>
            </a:r>
          </a:p>
          <a:p>
            <a:r>
              <a:rPr lang="en-US" dirty="0"/>
              <a:t>Using Splunk’s powerful search queries, dashboards, and alerting features, I was able to detect attack patterns and replicate the way a soc operates.</a:t>
            </a:r>
            <a:endParaRPr lang="en-IN" dirty="0"/>
          </a:p>
          <a:p>
            <a:endParaRPr lang="en-IN" dirty="0"/>
          </a:p>
        </p:txBody>
      </p:sp>
      <p:sp>
        <p:nvSpPr>
          <p:cNvPr id="4" name="Slide Number Placeholder 3"/>
          <p:cNvSpPr>
            <a:spLocks noGrp="1"/>
          </p:cNvSpPr>
          <p:nvPr>
            <p:ph type="sldNum" sz="quarter" idx="5"/>
          </p:nvPr>
        </p:nvSpPr>
        <p:spPr/>
        <p:txBody>
          <a:bodyPr/>
          <a:lstStyle/>
          <a:p>
            <a:fld id="{497C60BB-7384-466F-9214-E0C6D372C2C2}" type="slidenum">
              <a:rPr lang="en-IN" smtClean="0"/>
              <a:t>7</a:t>
            </a:fld>
            <a:endParaRPr lang="en-IN"/>
          </a:p>
        </p:txBody>
      </p:sp>
    </p:spTree>
    <p:extLst>
      <p:ext uri="{BB962C8B-B14F-4D97-AF65-F5344CB8AC3E}">
        <p14:creationId xmlns:p14="http://schemas.microsoft.com/office/powerpoint/2010/main" val="15398662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correlation helps us connect logs from different sources and identify hidden patterns that may indicate an attack. </a:t>
            </a:r>
          </a:p>
          <a:p>
            <a:r>
              <a:rPr lang="en-US" dirty="0"/>
              <a:t>It reduces noise and builds a clear timeline of suspicious activity. </a:t>
            </a:r>
          </a:p>
          <a:p>
            <a:r>
              <a:rPr lang="en-US" dirty="0"/>
              <a:t>Once correlated, these events are used for threat detection, where we identify possible attacks, detect unusual behavior, and generate alerts for quick incident response.”</a:t>
            </a:r>
          </a:p>
          <a:p>
            <a:endParaRPr lang="en-US" dirty="0"/>
          </a:p>
          <a:p>
            <a:r>
              <a:rPr lang="en-US" dirty="0"/>
              <a:t>For example, multiple failed login attempts followed by a successful login and large data download — when correlated together — clearly indicate a possible attack.”</a:t>
            </a:r>
          </a:p>
          <a:p>
            <a:endParaRPr lang="en-US" dirty="0"/>
          </a:p>
          <a:p>
            <a:r>
              <a:rPr lang="en-US" b="1" dirty="0"/>
              <a:t>Privilege Escalation</a:t>
            </a:r>
            <a:r>
              <a:rPr lang="en-US" dirty="0"/>
              <a:t> – A normal user account suddenly performs admin-level actions, which indicates possible privilege escalation.</a:t>
            </a:r>
          </a:p>
          <a:p>
            <a:r>
              <a:rPr lang="en-US" b="1" dirty="0"/>
              <a:t>Suspicious Network Activity</a:t>
            </a:r>
            <a:r>
              <a:rPr lang="en-US" dirty="0"/>
              <a:t> – A system connects to unknown IP addresses right after malware execution, showing signs of data exfiltration.</a:t>
            </a:r>
          </a:p>
          <a:p>
            <a:r>
              <a:rPr lang="en-US" b="1" dirty="0"/>
              <a:t>Insider Threat</a:t>
            </a:r>
            <a:r>
              <a:rPr lang="en-US" dirty="0"/>
              <a:t> – An employee accessing sensitive files late at night from an unusual location, signaling insider misuse.</a:t>
            </a:r>
          </a:p>
          <a:p>
            <a:endParaRPr lang="en-IN" dirty="0"/>
          </a:p>
          <a:p>
            <a:r>
              <a:rPr lang="en-US" dirty="0"/>
              <a:t>“In this slide , event correlation was a key step to connect different security logs and identify meaningful attack patterns. </a:t>
            </a:r>
          </a:p>
          <a:p>
            <a:r>
              <a:rPr lang="en-US" dirty="0"/>
              <a:t>For example, multiple failed logins followed by a successful login on another system could indicate brute-force activity and lateral movement. </a:t>
            </a:r>
          </a:p>
          <a:p>
            <a:r>
              <a:rPr lang="en-US" dirty="0"/>
              <a:t>By correlating Windows Event Logs, Sysmon data, and network logs, Splunk helped to detect threats like malware infections, privilege escalation, and suspicious remote connections. </a:t>
            </a:r>
          </a:p>
          <a:p>
            <a:r>
              <a:rPr lang="en-US" dirty="0"/>
              <a:t>This approach reflects how real SOC operate, where isolated logs may not reveal much, but correlation across multiple sources provides clear visibility into ongoing attacks</a:t>
            </a:r>
            <a:endParaRPr lang="en-IN" dirty="0"/>
          </a:p>
        </p:txBody>
      </p:sp>
      <p:sp>
        <p:nvSpPr>
          <p:cNvPr id="4" name="Slide Number Placeholder 3"/>
          <p:cNvSpPr>
            <a:spLocks noGrp="1"/>
          </p:cNvSpPr>
          <p:nvPr>
            <p:ph type="sldNum" sz="quarter" idx="5"/>
          </p:nvPr>
        </p:nvSpPr>
        <p:spPr/>
        <p:txBody>
          <a:bodyPr/>
          <a:lstStyle/>
          <a:p>
            <a:fld id="{497C60BB-7384-466F-9214-E0C6D372C2C2}" type="slidenum">
              <a:rPr lang="en-IN" smtClean="0"/>
              <a:t>8</a:t>
            </a:fld>
            <a:endParaRPr lang="en-IN"/>
          </a:p>
        </p:txBody>
      </p:sp>
    </p:spTree>
    <p:extLst>
      <p:ext uri="{BB962C8B-B14F-4D97-AF65-F5344CB8AC3E}">
        <p14:creationId xmlns:p14="http://schemas.microsoft.com/office/powerpoint/2010/main" val="1929228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a:t>
            </a:r>
          </a:p>
          <a:p>
            <a:r>
              <a:rPr lang="en-US" dirty="0"/>
              <a:t> dashboards were created to visualize key security data such as Windows logs, Sysmon, DNS, Proxy, and Firewall activities. Timelines were used to track attacker movements, login attempts were monitored to spot brute-force activity, and suspicious IPs were mapped on geo-location charts. </a:t>
            </a:r>
          </a:p>
          <a:p>
            <a:r>
              <a:rPr lang="en-US" dirty="0"/>
              <a:t>Real-time dashboards enabled proactive detection and response. </a:t>
            </a:r>
          </a:p>
          <a:p>
            <a:r>
              <a:rPr lang="en-US" dirty="0"/>
              <a:t>Alerts further strengthened this setup by categorizing incidents into high, medium, and low severity, helping analysts prioritize threats, support investigations, and act before damage occurs.</a:t>
            </a:r>
            <a:endParaRPr lang="en-IN" dirty="0"/>
          </a:p>
        </p:txBody>
      </p:sp>
      <p:sp>
        <p:nvSpPr>
          <p:cNvPr id="4" name="Slide Number Placeholder 3"/>
          <p:cNvSpPr>
            <a:spLocks noGrp="1"/>
          </p:cNvSpPr>
          <p:nvPr>
            <p:ph type="sldNum" sz="quarter" idx="5"/>
          </p:nvPr>
        </p:nvSpPr>
        <p:spPr/>
        <p:txBody>
          <a:bodyPr/>
          <a:lstStyle/>
          <a:p>
            <a:fld id="{497C60BB-7384-466F-9214-E0C6D372C2C2}" type="slidenum">
              <a:rPr lang="en-IN" smtClean="0"/>
              <a:t>9</a:t>
            </a:fld>
            <a:endParaRPr lang="en-IN"/>
          </a:p>
        </p:txBody>
      </p:sp>
    </p:spTree>
    <p:extLst>
      <p:ext uri="{BB962C8B-B14F-4D97-AF65-F5344CB8AC3E}">
        <p14:creationId xmlns:p14="http://schemas.microsoft.com/office/powerpoint/2010/main" val="2601844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showed </a:t>
            </a:r>
          </a:p>
          <a:p>
            <a:r>
              <a:rPr lang="en-US" dirty="0"/>
              <a:t>how Splunk dashboards and alerts can successfully detect enterprise attack scenarios, correlate events, and improve real-time threat monitoring. </a:t>
            </a:r>
          </a:p>
          <a:p>
            <a:r>
              <a:rPr lang="en-US" dirty="0"/>
              <a:t>However, since the dataset is simulated, it may not fully cover real-world attacks. </a:t>
            </a:r>
          </a:p>
          <a:p>
            <a:r>
              <a:rPr lang="en-US" dirty="0"/>
              <a:t>Large-scale environments face challenges like performance issues, complex correlation needs, and the requirement for skilled analysts to manage alerts effectively.</a:t>
            </a:r>
          </a:p>
          <a:p>
            <a:r>
              <a:rPr lang="en-US" dirty="0"/>
              <a:t>Also, handling very large logs, complex attacks, and alert tuning still need expert knowledge and human analysis.</a:t>
            </a:r>
            <a:endParaRPr lang="en-IN" dirty="0"/>
          </a:p>
        </p:txBody>
      </p:sp>
      <p:sp>
        <p:nvSpPr>
          <p:cNvPr id="4" name="Slide Number Placeholder 3"/>
          <p:cNvSpPr>
            <a:spLocks noGrp="1"/>
          </p:cNvSpPr>
          <p:nvPr>
            <p:ph type="sldNum" sz="quarter" idx="5"/>
          </p:nvPr>
        </p:nvSpPr>
        <p:spPr/>
        <p:txBody>
          <a:bodyPr/>
          <a:lstStyle/>
          <a:p>
            <a:fld id="{497C60BB-7384-466F-9214-E0C6D372C2C2}" type="slidenum">
              <a:rPr lang="en-IN" smtClean="0"/>
              <a:t>10</a:t>
            </a:fld>
            <a:endParaRPr lang="en-IN"/>
          </a:p>
        </p:txBody>
      </p:sp>
    </p:spTree>
    <p:extLst>
      <p:ext uri="{BB962C8B-B14F-4D97-AF65-F5344CB8AC3E}">
        <p14:creationId xmlns:p14="http://schemas.microsoft.com/office/powerpoint/2010/main" val="105815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future, SIEM solutions like Splunk can be enhanced with machine learning for predictive threat detection, automation through SOAR tools, and wider dataset coverage including cloud, IoT, and endpoint data. </a:t>
            </a:r>
          </a:p>
          <a:p>
            <a:r>
              <a:rPr lang="en-US" dirty="0"/>
              <a:t>Advanced correlation rules and threat intelligence integration will make detection even stronger. </a:t>
            </a:r>
          </a:p>
          <a:p>
            <a:r>
              <a:rPr lang="en-US" dirty="0"/>
              <a:t>These capabilities are already being widely adopted across industries such as finance, healthcare, IT, and government to improve compliance, prioritize critical threats, and strengthen overall cybersecurity posture</a:t>
            </a:r>
            <a:endParaRPr lang="en-IN" dirty="0"/>
          </a:p>
        </p:txBody>
      </p:sp>
      <p:sp>
        <p:nvSpPr>
          <p:cNvPr id="4" name="Slide Number Placeholder 3"/>
          <p:cNvSpPr>
            <a:spLocks noGrp="1"/>
          </p:cNvSpPr>
          <p:nvPr>
            <p:ph type="sldNum" sz="quarter" idx="5"/>
          </p:nvPr>
        </p:nvSpPr>
        <p:spPr/>
        <p:txBody>
          <a:bodyPr/>
          <a:lstStyle/>
          <a:p>
            <a:fld id="{497C60BB-7384-466F-9214-E0C6D372C2C2}" type="slidenum">
              <a:rPr lang="en-IN" smtClean="0"/>
              <a:t>11</a:t>
            </a:fld>
            <a:endParaRPr lang="en-IN"/>
          </a:p>
        </p:txBody>
      </p:sp>
    </p:spTree>
    <p:extLst>
      <p:ext uri="{BB962C8B-B14F-4D97-AF65-F5344CB8AC3E}">
        <p14:creationId xmlns:p14="http://schemas.microsoft.com/office/powerpoint/2010/main" val="8747797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1C8CCE-EBC4-41AF-8EF6-5A17F4AE0EE4}"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83A7E-4D08-42C2-8941-EE49A858882D}" type="slidenum">
              <a:rPr lang="en-IN" smtClean="0"/>
              <a:t>‹#›</a:t>
            </a:fld>
            <a:endParaRPr lang="en-IN"/>
          </a:p>
        </p:txBody>
      </p:sp>
    </p:spTree>
    <p:extLst>
      <p:ext uri="{BB962C8B-B14F-4D97-AF65-F5344CB8AC3E}">
        <p14:creationId xmlns:p14="http://schemas.microsoft.com/office/powerpoint/2010/main" val="429109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1C8CCE-EBC4-41AF-8EF6-5A17F4AE0EE4}"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83A7E-4D08-42C2-8941-EE49A858882D}" type="slidenum">
              <a:rPr lang="en-IN" smtClean="0"/>
              <a:t>‹#›</a:t>
            </a:fld>
            <a:endParaRPr lang="en-IN"/>
          </a:p>
        </p:txBody>
      </p:sp>
    </p:spTree>
    <p:extLst>
      <p:ext uri="{BB962C8B-B14F-4D97-AF65-F5344CB8AC3E}">
        <p14:creationId xmlns:p14="http://schemas.microsoft.com/office/powerpoint/2010/main" val="4004682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1C8CCE-EBC4-41AF-8EF6-5A17F4AE0EE4}"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83A7E-4D08-42C2-8941-EE49A858882D}" type="slidenum">
              <a:rPr lang="en-IN" smtClean="0"/>
              <a:t>‹#›</a:t>
            </a:fld>
            <a:endParaRPr lang="en-IN"/>
          </a:p>
        </p:txBody>
      </p:sp>
    </p:spTree>
    <p:extLst>
      <p:ext uri="{BB962C8B-B14F-4D97-AF65-F5344CB8AC3E}">
        <p14:creationId xmlns:p14="http://schemas.microsoft.com/office/powerpoint/2010/main" val="1616690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1C8CCE-EBC4-41AF-8EF6-5A17F4AE0EE4}"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83A7E-4D08-42C2-8941-EE49A858882D}" type="slidenum">
              <a:rPr lang="en-IN" smtClean="0"/>
              <a:t>‹#›</a:t>
            </a:fld>
            <a:endParaRPr lang="en-IN"/>
          </a:p>
        </p:txBody>
      </p:sp>
    </p:spTree>
    <p:extLst>
      <p:ext uri="{BB962C8B-B14F-4D97-AF65-F5344CB8AC3E}">
        <p14:creationId xmlns:p14="http://schemas.microsoft.com/office/powerpoint/2010/main" val="23446729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1C8CCE-EBC4-41AF-8EF6-5A17F4AE0EE4}" type="datetimeFigureOut">
              <a:rPr lang="en-IN" smtClean="0"/>
              <a:t>16-06-2026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9F83A7E-4D08-42C2-8941-EE49A858882D}" type="slidenum">
              <a:rPr lang="en-IN" smtClean="0"/>
              <a:t>‹#›</a:t>
            </a:fld>
            <a:endParaRPr lang="en-IN"/>
          </a:p>
        </p:txBody>
      </p:sp>
    </p:spTree>
    <p:extLst>
      <p:ext uri="{BB962C8B-B14F-4D97-AF65-F5344CB8AC3E}">
        <p14:creationId xmlns:p14="http://schemas.microsoft.com/office/powerpoint/2010/main" val="743374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1C8CCE-EBC4-41AF-8EF6-5A17F4AE0EE4}" type="datetimeFigureOut">
              <a:rPr lang="en-IN" smtClean="0"/>
              <a:t>16-06-2026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9F83A7E-4D08-42C2-8941-EE49A858882D}" type="slidenum">
              <a:rPr lang="en-IN" smtClean="0"/>
              <a:t>‹#›</a:t>
            </a:fld>
            <a:endParaRPr lang="en-IN"/>
          </a:p>
        </p:txBody>
      </p:sp>
    </p:spTree>
    <p:extLst>
      <p:ext uri="{BB962C8B-B14F-4D97-AF65-F5344CB8AC3E}">
        <p14:creationId xmlns:p14="http://schemas.microsoft.com/office/powerpoint/2010/main" val="4148141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1C8CCE-EBC4-41AF-8EF6-5A17F4AE0EE4}" type="datetimeFigureOut">
              <a:rPr lang="en-IN" smtClean="0"/>
              <a:t>16-06-2026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9F83A7E-4D08-42C2-8941-EE49A858882D}" type="slidenum">
              <a:rPr lang="en-IN" smtClean="0"/>
              <a:t>‹#›</a:t>
            </a:fld>
            <a:endParaRPr lang="en-IN"/>
          </a:p>
        </p:txBody>
      </p:sp>
    </p:spTree>
    <p:extLst>
      <p:ext uri="{BB962C8B-B14F-4D97-AF65-F5344CB8AC3E}">
        <p14:creationId xmlns:p14="http://schemas.microsoft.com/office/powerpoint/2010/main" val="1050795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1C8CCE-EBC4-41AF-8EF6-5A17F4AE0EE4}"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83A7E-4D08-42C2-8941-EE49A858882D}" type="slidenum">
              <a:rPr lang="en-IN" smtClean="0"/>
              <a:t>‹#›</a:t>
            </a:fld>
            <a:endParaRPr lang="en-IN"/>
          </a:p>
        </p:txBody>
      </p:sp>
    </p:spTree>
    <p:extLst>
      <p:ext uri="{BB962C8B-B14F-4D97-AF65-F5344CB8AC3E}">
        <p14:creationId xmlns:p14="http://schemas.microsoft.com/office/powerpoint/2010/main" val="1892906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1C8CCE-EBC4-41AF-8EF6-5A17F4AE0EE4}" type="datetimeFigureOut">
              <a:rPr lang="en-IN" smtClean="0"/>
              <a:t>16-06-2026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9F83A7E-4D08-42C2-8941-EE49A858882D}" type="slidenum">
              <a:rPr lang="en-IN" smtClean="0"/>
              <a:t>‹#›</a:t>
            </a:fld>
            <a:endParaRPr lang="en-IN"/>
          </a:p>
        </p:txBody>
      </p:sp>
    </p:spTree>
    <p:extLst>
      <p:ext uri="{BB962C8B-B14F-4D97-AF65-F5344CB8AC3E}">
        <p14:creationId xmlns:p14="http://schemas.microsoft.com/office/powerpoint/2010/main" val="1785072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1C8CCE-EBC4-41AF-8EF6-5A17F4AE0EE4}"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83A7E-4D08-42C2-8941-EE49A858882D}" type="slidenum">
              <a:rPr lang="en-IN" smtClean="0"/>
              <a:t>‹#›</a:t>
            </a:fld>
            <a:endParaRPr lang="en-IN"/>
          </a:p>
        </p:txBody>
      </p:sp>
    </p:spTree>
    <p:extLst>
      <p:ext uri="{BB962C8B-B14F-4D97-AF65-F5344CB8AC3E}">
        <p14:creationId xmlns:p14="http://schemas.microsoft.com/office/powerpoint/2010/main" val="2292379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1C8CCE-EBC4-41AF-8EF6-5A17F4AE0EE4}"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83A7E-4D08-42C2-8941-EE49A858882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056219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1C8CCE-EBC4-41AF-8EF6-5A17F4AE0EE4}"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83A7E-4D08-42C2-8941-EE49A858882D}" type="slidenum">
              <a:rPr lang="en-IN" smtClean="0"/>
              <a:t>‹#›</a:t>
            </a:fld>
            <a:endParaRPr lang="en-IN"/>
          </a:p>
        </p:txBody>
      </p:sp>
    </p:spTree>
    <p:extLst>
      <p:ext uri="{BB962C8B-B14F-4D97-AF65-F5344CB8AC3E}">
        <p14:creationId xmlns:p14="http://schemas.microsoft.com/office/powerpoint/2010/main" val="35985950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1C8CCE-EBC4-41AF-8EF6-5A17F4AE0EE4}"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83A7E-4D08-42C2-8941-EE49A858882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71679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1C8CCE-EBC4-41AF-8EF6-5A17F4AE0EE4}"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83A7E-4D08-42C2-8941-EE49A858882D}" type="slidenum">
              <a:rPr lang="en-IN" smtClean="0"/>
              <a:t>‹#›</a:t>
            </a:fld>
            <a:endParaRPr lang="en-IN"/>
          </a:p>
        </p:txBody>
      </p:sp>
    </p:spTree>
    <p:extLst>
      <p:ext uri="{BB962C8B-B14F-4D97-AF65-F5344CB8AC3E}">
        <p14:creationId xmlns:p14="http://schemas.microsoft.com/office/powerpoint/2010/main" val="37330212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1C8CCE-EBC4-41AF-8EF6-5A17F4AE0EE4}"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83A7E-4D08-42C2-8941-EE49A858882D}" type="slidenum">
              <a:rPr lang="en-IN" smtClean="0"/>
              <a:t>‹#›</a:t>
            </a:fld>
            <a:endParaRPr lang="en-IN"/>
          </a:p>
        </p:txBody>
      </p:sp>
    </p:spTree>
    <p:extLst>
      <p:ext uri="{BB962C8B-B14F-4D97-AF65-F5344CB8AC3E}">
        <p14:creationId xmlns:p14="http://schemas.microsoft.com/office/powerpoint/2010/main" val="1702704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1C8CCE-EBC4-41AF-8EF6-5A17F4AE0EE4}" type="datetimeFigureOut">
              <a:rPr lang="en-IN" smtClean="0"/>
              <a:t>16-06-2026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9F83A7E-4D08-42C2-8941-EE49A858882D}" type="slidenum">
              <a:rPr lang="en-IN" smtClean="0"/>
              <a:t>‹#›</a:t>
            </a:fld>
            <a:endParaRPr lang="en-IN"/>
          </a:p>
        </p:txBody>
      </p:sp>
    </p:spTree>
    <p:extLst>
      <p:ext uri="{BB962C8B-B14F-4D97-AF65-F5344CB8AC3E}">
        <p14:creationId xmlns:p14="http://schemas.microsoft.com/office/powerpoint/2010/main" val="799770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61C8CCE-EBC4-41AF-8EF6-5A17F4AE0EE4}" type="datetimeFigureOut">
              <a:rPr lang="en-IN" smtClean="0"/>
              <a:t>16-06-2026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9F83A7E-4D08-42C2-8941-EE49A858882D}" type="slidenum">
              <a:rPr lang="en-IN" smtClean="0"/>
              <a:t>‹#›</a:t>
            </a:fld>
            <a:endParaRPr lang="en-IN"/>
          </a:p>
        </p:txBody>
      </p:sp>
    </p:spTree>
    <p:extLst>
      <p:ext uri="{BB962C8B-B14F-4D97-AF65-F5344CB8AC3E}">
        <p14:creationId xmlns:p14="http://schemas.microsoft.com/office/powerpoint/2010/main" val="12854306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C9F287-3A63-E8A5-5ECA-1B3A3D94F80A}"/>
              </a:ext>
            </a:extLst>
          </p:cNvPr>
          <p:cNvSpPr txBox="1"/>
          <p:nvPr/>
        </p:nvSpPr>
        <p:spPr>
          <a:xfrm>
            <a:off x="3923071" y="167149"/>
            <a:ext cx="4345859"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MANGALORE UNIVERSITY</a:t>
            </a:r>
          </a:p>
        </p:txBody>
      </p:sp>
      <p:pic>
        <p:nvPicPr>
          <p:cNvPr id="6" name="Picture 5">
            <a:extLst>
              <a:ext uri="{FF2B5EF4-FFF2-40B4-BE49-F238E27FC236}">
                <a16:creationId xmlns:a16="http://schemas.microsoft.com/office/drawing/2014/main" id="{9FC7213C-CE01-83E5-7C87-8AAD0017C7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7025" y="608299"/>
            <a:ext cx="1517951" cy="1800603"/>
          </a:xfrm>
          <a:prstGeom prst="rect">
            <a:avLst/>
          </a:prstGeom>
        </p:spPr>
      </p:pic>
      <p:sp>
        <p:nvSpPr>
          <p:cNvPr id="7" name="TextBox 6">
            <a:extLst>
              <a:ext uri="{FF2B5EF4-FFF2-40B4-BE49-F238E27FC236}">
                <a16:creationId xmlns:a16="http://schemas.microsoft.com/office/drawing/2014/main" id="{8D734830-7F2D-A6D7-A4FB-8E95886AA989}"/>
              </a:ext>
            </a:extLst>
          </p:cNvPr>
          <p:cNvSpPr txBox="1"/>
          <p:nvPr/>
        </p:nvSpPr>
        <p:spPr>
          <a:xfrm>
            <a:off x="3293807" y="2449942"/>
            <a:ext cx="5604387" cy="2720232"/>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SIEM Analysis with Splunk BOTSv1 Logs</a:t>
            </a:r>
            <a:endParaRPr lang="en-IN" sz="2000"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algn="ctr">
              <a:lnSpc>
                <a:spcPct val="150000"/>
              </a:lnSpc>
            </a:pPr>
            <a:r>
              <a:rPr lang="en-IN" dirty="0">
                <a:latin typeface="Times New Roman" panose="02020603050405020304" pitchFamily="18" charset="0"/>
                <a:cs typeface="Times New Roman" panose="02020603050405020304" pitchFamily="18" charset="0"/>
              </a:rPr>
              <a:t>Submitted by,</a:t>
            </a:r>
          </a:p>
          <a:p>
            <a:pPr algn="ctr">
              <a:lnSpc>
                <a:spcPct val="150000"/>
              </a:lnSpc>
            </a:pPr>
            <a:r>
              <a:rPr lang="en-IN" b="1">
                <a:latin typeface="Times New Roman" panose="02020603050405020304" pitchFamily="18" charset="0"/>
                <a:cs typeface="Times New Roman" panose="02020603050405020304" pitchFamily="18" charset="0"/>
              </a:rPr>
              <a:t>Bharathraj</a:t>
            </a:r>
            <a:endParaRPr lang="en-IN" b="1" dirty="0">
              <a:latin typeface="Times New Roman" panose="02020603050405020304" pitchFamily="18" charset="0"/>
              <a:cs typeface="Times New Roman" panose="02020603050405020304" pitchFamily="18" charset="0"/>
            </a:endParaRPr>
          </a:p>
          <a:p>
            <a:pPr algn="ctr">
              <a:lnSpc>
                <a:spcPct val="150000"/>
              </a:lnSpc>
            </a:pPr>
            <a:r>
              <a:rPr lang="en-IN" dirty="0">
                <a:latin typeface="Times New Roman" panose="02020603050405020304" pitchFamily="18" charset="0"/>
                <a:cs typeface="Times New Roman" panose="02020603050405020304" pitchFamily="18" charset="0"/>
              </a:rPr>
              <a:t>M.Sc Cybersecurity</a:t>
            </a:r>
          </a:p>
          <a:p>
            <a:pPr algn="ctr">
              <a:lnSpc>
                <a:spcPct val="150000"/>
              </a:lnSpc>
            </a:pPr>
            <a:r>
              <a:rPr lang="en-IN" dirty="0">
                <a:latin typeface="Times New Roman" panose="02020603050405020304" pitchFamily="18" charset="0"/>
                <a:cs typeface="Times New Roman" panose="02020603050405020304" pitchFamily="18" charset="0"/>
              </a:rPr>
              <a:t>Dept. of Electronics</a:t>
            </a:r>
          </a:p>
        </p:txBody>
      </p:sp>
      <p:sp>
        <p:nvSpPr>
          <p:cNvPr id="8" name="TextBox 7">
            <a:extLst>
              <a:ext uri="{FF2B5EF4-FFF2-40B4-BE49-F238E27FC236}">
                <a16:creationId xmlns:a16="http://schemas.microsoft.com/office/drawing/2014/main" id="{0305B6E2-32AF-8DEB-F29A-4FEB4C45DE26}"/>
              </a:ext>
            </a:extLst>
          </p:cNvPr>
          <p:cNvSpPr txBox="1"/>
          <p:nvPr/>
        </p:nvSpPr>
        <p:spPr>
          <a:xfrm>
            <a:off x="429208" y="4515090"/>
            <a:ext cx="3610818" cy="2120068"/>
          </a:xfrm>
          <a:prstGeom prst="rect">
            <a:avLst/>
          </a:prstGeom>
          <a:noFill/>
        </p:spPr>
        <p:txBody>
          <a:bodyPr wrap="square" rtlCol="0">
            <a:spAutoFit/>
          </a:bodyPr>
          <a:lstStyle/>
          <a:p>
            <a:pPr algn="ctr">
              <a:lnSpc>
                <a:spcPct val="150000"/>
              </a:lnSpc>
            </a:pPr>
            <a:r>
              <a:rPr lang="en-US" b="1" dirty="0">
                <a:latin typeface="Times New Roman" panose="02020603050405020304" pitchFamily="18" charset="0"/>
                <a:cs typeface="Times New Roman" panose="02020603050405020304" pitchFamily="18" charset="0"/>
              </a:rPr>
              <a:t>Internal Guide,</a:t>
            </a:r>
          </a:p>
          <a:p>
            <a:pPr algn="ctr">
              <a:lnSpc>
                <a:spcPct val="150000"/>
              </a:lnSpc>
            </a:pPr>
            <a:r>
              <a:rPr lang="en-US" b="1" dirty="0">
                <a:latin typeface="Times New Roman" panose="02020603050405020304" pitchFamily="18" charset="0"/>
                <a:cs typeface="Times New Roman" panose="02020603050405020304" pitchFamily="18" charset="0"/>
              </a:rPr>
              <a:t>Mr. Narayana Prakash S</a:t>
            </a:r>
          </a:p>
          <a:p>
            <a:pPr algn="ctr">
              <a:lnSpc>
                <a:spcPct val="150000"/>
              </a:lnSpc>
            </a:pPr>
            <a:r>
              <a:rPr lang="en-US" dirty="0">
                <a:latin typeface="Times New Roman" panose="02020603050405020304" pitchFamily="18" charset="0"/>
                <a:cs typeface="Times New Roman" panose="02020603050405020304" pitchFamily="18" charset="0"/>
              </a:rPr>
              <a:t>Faculty</a:t>
            </a:r>
          </a:p>
          <a:p>
            <a:pPr algn="ctr">
              <a:lnSpc>
                <a:spcPct val="150000"/>
              </a:lnSpc>
            </a:pPr>
            <a:r>
              <a:rPr lang="en-US" dirty="0">
                <a:latin typeface="Times New Roman" panose="02020603050405020304" pitchFamily="18" charset="0"/>
                <a:cs typeface="Times New Roman" panose="02020603050405020304" pitchFamily="18" charset="0"/>
              </a:rPr>
              <a:t>Dept. Of Electronics</a:t>
            </a:r>
          </a:p>
          <a:p>
            <a:pPr algn="ctr">
              <a:lnSpc>
                <a:spcPct val="150000"/>
              </a:lnSpc>
            </a:pPr>
            <a:r>
              <a:rPr lang="en-US" dirty="0">
                <a:latin typeface="Times New Roman" panose="02020603050405020304" pitchFamily="18" charset="0"/>
                <a:cs typeface="Times New Roman" panose="02020603050405020304" pitchFamily="18" charset="0"/>
              </a:rPr>
              <a:t>Mangalore University</a:t>
            </a:r>
            <a:endParaRPr lang="en-IN"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4805168-3C73-0C94-18FC-6933FB933C35}"/>
              </a:ext>
            </a:extLst>
          </p:cNvPr>
          <p:cNvSpPr txBox="1"/>
          <p:nvPr/>
        </p:nvSpPr>
        <p:spPr>
          <a:xfrm>
            <a:off x="7857379" y="4525638"/>
            <a:ext cx="3795251" cy="2120068"/>
          </a:xfrm>
          <a:prstGeom prst="rect">
            <a:avLst/>
          </a:prstGeom>
          <a:noFill/>
        </p:spPr>
        <p:txBody>
          <a:bodyPr wrap="square" rtlCol="0">
            <a:spAutoFit/>
          </a:bodyPr>
          <a:lstStyle/>
          <a:p>
            <a:pPr algn="ctr">
              <a:lnSpc>
                <a:spcPct val="150000"/>
              </a:lnSpc>
            </a:pPr>
            <a:r>
              <a:rPr lang="en-US" b="1" dirty="0">
                <a:latin typeface="Times New Roman" panose="02020603050405020304" pitchFamily="18" charset="0"/>
                <a:cs typeface="Times New Roman" panose="02020603050405020304" pitchFamily="18" charset="0"/>
              </a:rPr>
              <a:t>External Guide</a:t>
            </a:r>
          </a:p>
          <a:p>
            <a:pPr algn="ctr">
              <a:lnSpc>
                <a:spcPct val="150000"/>
              </a:lnSpc>
            </a:pPr>
            <a:r>
              <a:rPr lang="en-US" b="1" dirty="0">
                <a:latin typeface="Times New Roman" panose="02020603050405020304" pitchFamily="18" charset="0"/>
                <a:cs typeface="Times New Roman" panose="02020603050405020304" pitchFamily="18" charset="0"/>
              </a:rPr>
              <a:t>Mr. Naveen Chandra Kumar</a:t>
            </a:r>
          </a:p>
          <a:p>
            <a:pPr algn="ctr">
              <a:lnSpc>
                <a:spcPct val="150000"/>
              </a:lnSpc>
            </a:pPr>
            <a:r>
              <a:rPr lang="en-US" dirty="0">
                <a:latin typeface="Times New Roman" panose="02020603050405020304" pitchFamily="18" charset="0"/>
                <a:cs typeface="Times New Roman" panose="02020603050405020304" pitchFamily="18" charset="0"/>
              </a:rPr>
              <a:t>Assistant Professor and Chairman,</a:t>
            </a:r>
          </a:p>
          <a:p>
            <a:pPr algn="ctr">
              <a:lnSpc>
                <a:spcPct val="150000"/>
              </a:lnSpc>
            </a:pPr>
            <a:r>
              <a:rPr lang="en-US" dirty="0">
                <a:latin typeface="Times New Roman" panose="02020603050405020304" pitchFamily="18" charset="0"/>
                <a:cs typeface="Times New Roman" panose="02020603050405020304" pitchFamily="18" charset="0"/>
              </a:rPr>
              <a:t> Department of Electronics,</a:t>
            </a:r>
          </a:p>
          <a:p>
            <a:pPr algn="ctr">
              <a:lnSpc>
                <a:spcPct val="150000"/>
              </a:lnSpc>
            </a:pPr>
            <a:r>
              <a:rPr lang="en-US" dirty="0">
                <a:latin typeface="Times New Roman" panose="02020603050405020304" pitchFamily="18" charset="0"/>
                <a:cs typeface="Times New Roman" panose="02020603050405020304" pitchFamily="18" charset="0"/>
              </a:rPr>
              <a:t>Mangalore University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2475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1250"/>
                                        <p:tgtEl>
                                          <p:spTgt spid="6"/>
                                        </p:tgtEl>
                                      </p:cBhvr>
                                    </p:animEffect>
                                  </p:childTnLst>
                                </p:cTn>
                              </p:par>
                            </p:childTnLst>
                          </p:cTn>
                        </p:par>
                        <p:par>
                          <p:cTn id="8" fill="hold">
                            <p:stCondLst>
                              <p:cond delay="1250"/>
                            </p:stCondLst>
                            <p:childTnLst>
                              <p:par>
                                <p:cTn id="9" presetID="53" presetClass="entr" presetSubtype="16" fill="hold"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 calcmode="lin" valueType="num">
                                      <p:cBhvr>
                                        <p:cTn id="11" dur="1000" fill="hold"/>
                                        <p:tgtEl>
                                          <p:spTgt spid="7">
                                            <p:txEl>
                                              <p:pRg st="0" end="0"/>
                                            </p:txEl>
                                          </p:spTgt>
                                        </p:tgtEl>
                                        <p:attrNameLst>
                                          <p:attrName>ppt_w</p:attrName>
                                        </p:attrNameLst>
                                      </p:cBhvr>
                                      <p:tavLst>
                                        <p:tav tm="0">
                                          <p:val>
                                            <p:fltVal val="0"/>
                                          </p:val>
                                        </p:tav>
                                        <p:tav tm="100000">
                                          <p:val>
                                            <p:strVal val="#ppt_w"/>
                                          </p:val>
                                        </p:tav>
                                      </p:tavLst>
                                    </p:anim>
                                    <p:anim calcmode="lin" valueType="num">
                                      <p:cBhvr>
                                        <p:cTn id="12" dur="10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13" dur="1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617099-C327-A400-4CF2-FEEF0FE53B1C}"/>
              </a:ext>
            </a:extLst>
          </p:cNvPr>
          <p:cNvSpPr/>
          <p:nvPr/>
        </p:nvSpPr>
        <p:spPr>
          <a:xfrm>
            <a:off x="-14748" y="0"/>
            <a:ext cx="4562168" cy="6858000"/>
          </a:xfrm>
          <a:prstGeom prst="rect">
            <a:avLst/>
          </a:prstGeom>
          <a:noFill/>
          <a:ln>
            <a:noFill/>
          </a:ln>
          <a:effectLst>
            <a:glow rad="63500">
              <a:schemeClr val="accent1">
                <a:satMod val="175000"/>
                <a:alpha val="40000"/>
              </a:schemeClr>
            </a:glow>
            <a:outerShdw blurRad="139700" dist="2667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760E300-9AE5-8D30-E63F-B45C135E1A1A}"/>
              </a:ext>
            </a:extLst>
          </p:cNvPr>
          <p:cNvSpPr txBox="1"/>
          <p:nvPr/>
        </p:nvSpPr>
        <p:spPr>
          <a:xfrm>
            <a:off x="526026" y="1357621"/>
            <a:ext cx="3529781" cy="2308324"/>
          </a:xfrm>
          <a:prstGeom prst="rect">
            <a:avLst/>
          </a:prstGeom>
          <a:noFill/>
          <a:effectLst>
            <a:glow rad="393700">
              <a:schemeClr val="accent1">
                <a:alpha val="78000"/>
              </a:schemeClr>
            </a:glow>
            <a:outerShdw blurRad="114300" dist="241300" dir="5400000" algn="ctr" rotWithShape="0">
              <a:srgbClr val="000000">
                <a:alpha val="43137"/>
              </a:srgbClr>
            </a:outerShdw>
            <a:reflection endPos="0" dist="38100" dir="5400000" sy="-100000" algn="bl" rotWithShape="0"/>
            <a:softEdge rad="177800"/>
          </a:effectLst>
        </p:spPr>
        <p:txBody>
          <a:bodyPr wrap="square" rtlCol="0">
            <a:spAutoFit/>
          </a:bodyPr>
          <a:lstStyle/>
          <a:p>
            <a:pPr algn="ctr"/>
            <a:r>
              <a:rPr lang="en-US" sz="4800" b="1" dirty="0">
                <a:latin typeface="Times New Roman" panose="02020603050405020304" pitchFamily="18" charset="0"/>
                <a:cs typeface="Times New Roman" panose="02020603050405020304" pitchFamily="18" charset="0"/>
              </a:rPr>
              <a:t>Table </a:t>
            </a:r>
          </a:p>
          <a:p>
            <a:pPr algn="ctr"/>
            <a:r>
              <a:rPr lang="en-US" sz="4800" b="1" dirty="0">
                <a:latin typeface="Times New Roman" panose="02020603050405020304" pitchFamily="18" charset="0"/>
                <a:cs typeface="Times New Roman" panose="02020603050405020304" pitchFamily="18" charset="0"/>
              </a:rPr>
              <a:t>of </a:t>
            </a:r>
          </a:p>
          <a:p>
            <a:pPr algn="ctr"/>
            <a:r>
              <a:rPr lang="en-US" sz="4800" b="1" dirty="0">
                <a:latin typeface="Times New Roman" panose="02020603050405020304" pitchFamily="18" charset="0"/>
                <a:cs typeface="Times New Roman" panose="02020603050405020304" pitchFamily="18" charset="0"/>
              </a:rPr>
              <a:t>Contents</a:t>
            </a:r>
            <a:endParaRPr lang="en-IN" sz="4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5947ECF-053D-0F61-317C-A8AD901101C2}"/>
              </a:ext>
            </a:extLst>
          </p:cNvPr>
          <p:cNvSpPr txBox="1"/>
          <p:nvPr/>
        </p:nvSpPr>
        <p:spPr>
          <a:xfrm>
            <a:off x="4678858" y="474345"/>
            <a:ext cx="5520219" cy="5909310"/>
          </a:xfrm>
          <a:prstGeom prst="rect">
            <a:avLst/>
          </a:prstGeom>
          <a:noFill/>
          <a:effectLst/>
        </p:spPr>
        <p:txBody>
          <a:bodyPr wrap="square" rtlCol="0">
            <a:spAutoFit/>
          </a:bodyPr>
          <a:lstStyle/>
          <a:p>
            <a:pPr marL="342900" indent="-342900">
              <a:lnSpc>
                <a:spcPct val="150000"/>
              </a:lnSpc>
              <a:buAutoNum type="arabicPeriod"/>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AutoNum type="arabicPeriod"/>
            </a:pPr>
            <a:r>
              <a:rPr lang="en-US" sz="2400" dirty="0">
                <a:latin typeface="Times New Roman" panose="02020603050405020304" pitchFamily="18" charset="0"/>
                <a:cs typeface="Times New Roman" panose="02020603050405020304" pitchFamily="18" charset="0"/>
              </a:rPr>
              <a:t>Objective of the project</a:t>
            </a:r>
          </a:p>
          <a:p>
            <a:pPr marL="342900" indent="-342900">
              <a:lnSpc>
                <a:spcPct val="150000"/>
              </a:lnSpc>
              <a:buAutoNum type="arabicPeriod"/>
            </a:pPr>
            <a:r>
              <a:rPr lang="en-IN" sz="2400" dirty="0">
                <a:latin typeface="Times New Roman" panose="02020603050405020304" pitchFamily="18" charset="0"/>
                <a:cs typeface="Times New Roman" panose="02020603050405020304" pitchFamily="18" charset="0"/>
              </a:rPr>
              <a:t>Industry </a:t>
            </a:r>
            <a:r>
              <a:rPr lang="en-IN" sz="2400" dirty="0" err="1">
                <a:latin typeface="Times New Roman" panose="02020603050405020304" pitchFamily="18" charset="0"/>
                <a:cs typeface="Times New Roman" panose="02020603050405020304" pitchFamily="18" charset="0"/>
              </a:rPr>
              <a:t>relavence</a:t>
            </a:r>
            <a:r>
              <a:rPr lang="en-IN" sz="2400" dirty="0">
                <a:latin typeface="Times New Roman" panose="02020603050405020304" pitchFamily="18" charset="0"/>
                <a:cs typeface="Times New Roman" panose="02020603050405020304" pitchFamily="18" charset="0"/>
              </a:rPr>
              <a:t> </a:t>
            </a:r>
          </a:p>
          <a:p>
            <a:pPr marL="342900" indent="-342900">
              <a:lnSpc>
                <a:spcPct val="150000"/>
              </a:lnSpc>
              <a:buAutoNum type="arabicPeriod"/>
            </a:pPr>
            <a:r>
              <a:rPr lang="en-US" sz="2400" dirty="0">
                <a:latin typeface="Times New Roman" panose="02020603050405020304" pitchFamily="18" charset="0"/>
                <a:cs typeface="Times New Roman" panose="02020603050405020304" pitchFamily="18" charset="0"/>
              </a:rPr>
              <a:t>Methodology</a:t>
            </a:r>
          </a:p>
          <a:p>
            <a:pPr marL="342900" indent="-342900">
              <a:lnSpc>
                <a:spcPct val="150000"/>
              </a:lnSpc>
              <a:buAutoNum type="arabicPeriod"/>
            </a:pPr>
            <a:r>
              <a:rPr lang="en-US" sz="2400" dirty="0">
                <a:latin typeface="Times New Roman" panose="02020603050405020304" pitchFamily="18" charset="0"/>
                <a:cs typeface="Times New Roman" panose="02020603050405020304" pitchFamily="18" charset="0"/>
              </a:rPr>
              <a:t>Dataset (BOTSv1) &amp; Splunk</a:t>
            </a:r>
          </a:p>
          <a:p>
            <a:pPr marL="342900" indent="-342900">
              <a:lnSpc>
                <a:spcPct val="150000"/>
              </a:lnSpc>
              <a:buAutoNum type="arabicPeriod"/>
            </a:pPr>
            <a:r>
              <a:rPr lang="en-US" sz="2400" dirty="0">
                <a:latin typeface="Times New Roman" panose="02020603050405020304" pitchFamily="18" charset="0"/>
                <a:cs typeface="Times New Roman" panose="02020603050405020304" pitchFamily="18" charset="0"/>
              </a:rPr>
              <a:t>Threat Detection</a:t>
            </a:r>
          </a:p>
          <a:p>
            <a:pPr marL="342900" indent="-342900">
              <a:lnSpc>
                <a:spcPct val="150000"/>
              </a:lnSpc>
              <a:buFontTx/>
              <a:buAutoNum type="arabicPeriod"/>
            </a:pPr>
            <a:r>
              <a:rPr lang="en-US" sz="2400" dirty="0">
                <a:latin typeface="Times New Roman" panose="02020603050405020304" pitchFamily="18" charset="0"/>
                <a:cs typeface="Times New Roman" panose="02020603050405020304" pitchFamily="18" charset="0"/>
              </a:rPr>
              <a:t>Visualizations &amp; Alerts </a:t>
            </a:r>
          </a:p>
          <a:p>
            <a:pPr marL="342900" indent="-342900">
              <a:lnSpc>
                <a:spcPct val="150000"/>
              </a:lnSpc>
              <a:buFontTx/>
              <a:buAutoNum type="arabicPeriod"/>
            </a:pPr>
            <a:r>
              <a:rPr lang="en-US" sz="2400" dirty="0">
                <a:latin typeface="Times New Roman" panose="02020603050405020304" pitchFamily="18" charset="0"/>
                <a:cs typeface="Times New Roman" panose="02020603050405020304" pitchFamily="18" charset="0"/>
              </a:rPr>
              <a:t>Results &amp; Limitation's</a:t>
            </a:r>
          </a:p>
          <a:p>
            <a:pPr marL="342900" indent="-342900">
              <a:lnSpc>
                <a:spcPct val="150000"/>
              </a:lnSpc>
              <a:buAutoNum type="arabicPeriod"/>
            </a:pPr>
            <a:r>
              <a:rPr lang="en-US" sz="2400" dirty="0">
                <a:latin typeface="Times New Roman" panose="02020603050405020304" pitchFamily="18" charset="0"/>
                <a:cs typeface="Times New Roman" panose="02020603050405020304" pitchFamily="18" charset="0"/>
              </a:rPr>
              <a:t>Future scope &amp; Industry adoption</a:t>
            </a:r>
          </a:p>
          <a:p>
            <a:pPr marL="342900" indent="-342900">
              <a:lnSpc>
                <a:spcPct val="150000"/>
              </a:lnSpc>
              <a:buAutoNum type="arabicPeriod"/>
            </a:pPr>
            <a:r>
              <a:rPr lang="en-US" sz="2400" dirty="0">
                <a:latin typeface="Times New Roman" panose="02020603050405020304" pitchFamily="18" charset="0"/>
                <a:cs typeface="Times New Roman" panose="02020603050405020304" pitchFamily="18" charset="0"/>
              </a:rPr>
              <a:t>conclusion</a:t>
            </a:r>
          </a:p>
          <a:p>
            <a:endParaRPr lang="en-IN" dirty="0"/>
          </a:p>
        </p:txBody>
      </p:sp>
    </p:spTree>
    <p:extLst>
      <p:ext uri="{BB962C8B-B14F-4D97-AF65-F5344CB8AC3E}">
        <p14:creationId xmlns:p14="http://schemas.microsoft.com/office/powerpoint/2010/main" val="28604173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4" fill="hold" nodeType="after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additive="base">
                                        <p:cTn id="12"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3" dur="10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2" presetClass="entr" presetSubtype="4" fill="hold" nodeType="after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 calcmode="lin" valueType="num">
                                      <p:cBhvr additive="base">
                                        <p:cTn id="1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8" dur="10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par>
                          <p:cTn id="19" fill="hold">
                            <p:stCondLst>
                              <p:cond delay="3000"/>
                            </p:stCondLst>
                            <p:childTnLst>
                              <p:par>
                                <p:cTn id="20" presetID="2" presetClass="entr" presetSubtype="4" fill="hold" nodeType="after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 calcmode="lin" valueType="num">
                                      <p:cBhvr additive="base">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3" dur="10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4000"/>
                            </p:stCondLst>
                            <p:childTnLst>
                              <p:par>
                                <p:cTn id="25" presetID="2" presetClass="entr" presetSubtype="4" fill="hold" nodeType="after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 calcmode="lin" valueType="num">
                                      <p:cBhvr additive="base">
                                        <p:cTn id="27"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8" dur="10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par>
                          <p:cTn id="29" fill="hold">
                            <p:stCondLst>
                              <p:cond delay="5000"/>
                            </p:stCondLst>
                            <p:childTnLst>
                              <p:par>
                                <p:cTn id="30" presetID="2" presetClass="entr" presetSubtype="4" fill="hold" nodeType="after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 calcmode="lin" valueType="num">
                                      <p:cBhvr additive="base">
                                        <p:cTn id="32"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33" dur="10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par>
                          <p:cTn id="34" fill="hold">
                            <p:stCondLst>
                              <p:cond delay="6000"/>
                            </p:stCondLst>
                            <p:childTnLst>
                              <p:par>
                                <p:cTn id="35" presetID="2" presetClass="entr" presetSubtype="4" fill="hold" nodeType="after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 calcmode="lin" valueType="num">
                                      <p:cBhvr additive="base">
                                        <p:cTn id="37"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par>
                          <p:cTn id="39" fill="hold">
                            <p:stCondLst>
                              <p:cond delay="7000"/>
                            </p:stCondLst>
                            <p:childTnLst>
                              <p:par>
                                <p:cTn id="40" presetID="2" presetClass="entr" presetSubtype="4" fill="hold" nodeType="after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 calcmode="lin" valueType="num">
                                      <p:cBhvr additive="base">
                                        <p:cTn id="42"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43" dur="10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par>
                          <p:cTn id="44" fill="hold">
                            <p:stCondLst>
                              <p:cond delay="8000"/>
                            </p:stCondLst>
                            <p:childTnLst>
                              <p:par>
                                <p:cTn id="45" presetID="2" presetClass="entr" presetSubtype="4" fill="hold" nodeType="after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 calcmode="lin" valueType="num">
                                      <p:cBhvr additive="base">
                                        <p:cTn id="47"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48" dur="10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par>
                          <p:cTn id="49" fill="hold">
                            <p:stCondLst>
                              <p:cond delay="9000"/>
                            </p:stCondLst>
                            <p:childTnLst>
                              <p:par>
                                <p:cTn id="50" presetID="2" presetClass="entr" presetSubtype="4" fill="hold" nodeType="after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 calcmode="lin" valueType="num">
                                      <p:cBhvr additive="base">
                                        <p:cTn id="52"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53" dur="10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5BB68FFC-F69D-ACCF-806A-07319CD5328E}"/>
              </a:ext>
            </a:extLst>
          </p:cNvPr>
          <p:cNvGrpSpPr/>
          <p:nvPr/>
        </p:nvGrpSpPr>
        <p:grpSpPr>
          <a:xfrm>
            <a:off x="-157452" y="78725"/>
            <a:ext cx="4038572" cy="3291036"/>
            <a:chOff x="-208252" y="-287035"/>
            <a:chExt cx="4038572" cy="3291036"/>
          </a:xfrm>
        </p:grpSpPr>
        <p:sp>
          <p:nvSpPr>
            <p:cNvPr id="12" name="TextBox 11">
              <a:extLst>
                <a:ext uri="{FF2B5EF4-FFF2-40B4-BE49-F238E27FC236}">
                  <a16:creationId xmlns:a16="http://schemas.microsoft.com/office/drawing/2014/main" id="{6C038A43-8398-B491-8F93-564F03014C35}"/>
                </a:ext>
              </a:extLst>
            </p:cNvPr>
            <p:cNvSpPr txBox="1"/>
            <p:nvPr/>
          </p:nvSpPr>
          <p:spPr>
            <a:xfrm>
              <a:off x="-208252" y="-287035"/>
              <a:ext cx="1462641" cy="3154710"/>
            </a:xfrm>
            <a:prstGeom prst="rect">
              <a:avLst/>
            </a:prstGeom>
            <a:noFill/>
            <a:ln>
              <a:noFill/>
            </a:ln>
            <a:effectLst>
              <a:outerShdw blurRad="190500" dist="101600" dir="5400000" algn="ctr" rotWithShape="0">
                <a:srgbClr val="000000">
                  <a:alpha val="43137"/>
                </a:srgbClr>
              </a:outerShdw>
            </a:effectLst>
          </p:spPr>
          <p:txBody>
            <a:bodyPr wrap="square" rtlCol="0">
              <a:spAutoFit/>
            </a:bodyPr>
            <a:lstStyle/>
            <a:p>
              <a:r>
                <a:rPr lang="en-US" sz="19900" b="1" dirty="0"/>
                <a:t>1</a:t>
              </a:r>
              <a:endParaRPr lang="en-IN" sz="13800" b="1" dirty="0"/>
            </a:p>
          </p:txBody>
        </p:sp>
        <p:sp>
          <p:nvSpPr>
            <p:cNvPr id="11" name="Isosceles Triangle 10">
              <a:extLst>
                <a:ext uri="{FF2B5EF4-FFF2-40B4-BE49-F238E27FC236}">
                  <a16:creationId xmlns:a16="http://schemas.microsoft.com/office/drawing/2014/main" id="{161C9F6F-2746-2EFC-B1FA-B3B78020EBB2}"/>
                </a:ext>
              </a:extLst>
            </p:cNvPr>
            <p:cNvSpPr/>
            <p:nvPr/>
          </p:nvSpPr>
          <p:spPr>
            <a:xfrm rot="10800000">
              <a:off x="971405" y="1136197"/>
              <a:ext cx="565969" cy="459289"/>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Parallelogram 1">
              <a:extLst>
                <a:ext uri="{FF2B5EF4-FFF2-40B4-BE49-F238E27FC236}">
                  <a16:creationId xmlns:a16="http://schemas.microsoft.com/office/drawing/2014/main" id="{24B8B574-EC3E-7B58-D2B1-62D87B3A73CF}"/>
                </a:ext>
              </a:extLst>
            </p:cNvPr>
            <p:cNvSpPr/>
            <p:nvPr/>
          </p:nvSpPr>
          <p:spPr>
            <a:xfrm>
              <a:off x="794750" y="347161"/>
              <a:ext cx="2375721" cy="2656840"/>
            </a:xfrm>
            <a:prstGeom prst="parallelogram">
              <a:avLst>
                <a:gd name="adj" fmla="val 36100"/>
              </a:avLst>
            </a:prstGeom>
            <a:solidFill>
              <a:srgbClr val="FFFFFF"/>
            </a:solidFill>
            <a:ln>
              <a:noFill/>
            </a:ln>
            <a:effectLst>
              <a:outerShdw blurRad="317500" dist="190500" dir="10800000" sx="86000" sy="86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Freeform: Shape 8">
              <a:extLst>
                <a:ext uri="{FF2B5EF4-FFF2-40B4-BE49-F238E27FC236}">
                  <a16:creationId xmlns:a16="http://schemas.microsoft.com/office/drawing/2014/main" id="{2598CE4D-B013-5D11-22C5-2B8B97C66289}"/>
                </a:ext>
              </a:extLst>
            </p:cNvPr>
            <p:cNvSpPr/>
            <p:nvPr/>
          </p:nvSpPr>
          <p:spPr>
            <a:xfrm>
              <a:off x="971406" y="496118"/>
              <a:ext cx="2858914" cy="640080"/>
            </a:xfrm>
            <a:custGeom>
              <a:avLst/>
              <a:gdLst>
                <a:gd name="connsiteX0" fmla="*/ 214894 w 1434934"/>
                <a:gd name="connsiteY0" fmla="*/ 0 h 640080"/>
                <a:gd name="connsiteX1" fmla="*/ 1114894 w 1434934"/>
                <a:gd name="connsiteY1" fmla="*/ 0 h 640080"/>
                <a:gd name="connsiteX2" fmla="*/ 1434934 w 1434934"/>
                <a:gd name="connsiteY2" fmla="*/ 320040 h 640080"/>
                <a:gd name="connsiteX3" fmla="*/ 1114894 w 1434934"/>
                <a:gd name="connsiteY3" fmla="*/ 640080 h 640080"/>
                <a:gd name="connsiteX4" fmla="*/ 0 w 1434934"/>
                <a:gd name="connsiteY4" fmla="*/ 640080 h 640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934" h="640080">
                  <a:moveTo>
                    <a:pt x="214894" y="0"/>
                  </a:moveTo>
                  <a:lnTo>
                    <a:pt x="1114894" y="0"/>
                  </a:lnTo>
                  <a:cubicBezTo>
                    <a:pt x="1291647" y="0"/>
                    <a:pt x="1434934" y="143287"/>
                    <a:pt x="1434934" y="320040"/>
                  </a:cubicBezTo>
                  <a:cubicBezTo>
                    <a:pt x="1434934" y="496793"/>
                    <a:pt x="1291647" y="640080"/>
                    <a:pt x="1114894" y="640080"/>
                  </a:cubicBezTo>
                  <a:lnTo>
                    <a:pt x="0" y="640080"/>
                  </a:lnTo>
                  <a:close/>
                </a:path>
              </a:pathLst>
            </a:custGeom>
            <a:solidFill>
              <a:schemeClr val="accent1"/>
            </a:soli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3200" b="1" dirty="0">
                  <a:latin typeface="Times New Roman" panose="02020603050405020304" pitchFamily="18" charset="0"/>
                  <a:cs typeface="Times New Roman" panose="02020603050405020304" pitchFamily="18" charset="0"/>
                </a:rPr>
                <a:t>Introduction</a:t>
              </a:r>
              <a:endParaRPr lang="en-IN" sz="3200" b="1" dirty="0">
                <a:latin typeface="Times New Roman" panose="02020603050405020304" pitchFamily="18" charset="0"/>
                <a:cs typeface="Times New Roman" panose="02020603050405020304" pitchFamily="18" charset="0"/>
              </a:endParaRPr>
            </a:p>
          </p:txBody>
        </p:sp>
      </p:grpSp>
      <p:sp>
        <p:nvSpPr>
          <p:cNvPr id="14" name="TextBox 13">
            <a:extLst>
              <a:ext uri="{FF2B5EF4-FFF2-40B4-BE49-F238E27FC236}">
                <a16:creationId xmlns:a16="http://schemas.microsoft.com/office/drawing/2014/main" id="{2FDE8588-C351-2711-2018-1A1F082C200F}"/>
              </a:ext>
            </a:extLst>
          </p:cNvPr>
          <p:cNvSpPr txBox="1"/>
          <p:nvPr/>
        </p:nvSpPr>
        <p:spPr>
          <a:xfrm>
            <a:off x="1481843" y="1731602"/>
            <a:ext cx="10388600" cy="4094198"/>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Organizations generate huge volumes of log data, </a:t>
            </a:r>
          </a:p>
          <a:p>
            <a:pPr algn="just">
              <a:lnSpc>
                <a:spcPct val="150000"/>
              </a:lnSpc>
            </a:pPr>
            <a:r>
              <a:rPr lang="en-US" sz="2200" dirty="0">
                <a:latin typeface="Times New Roman" panose="02020603050405020304" pitchFamily="18" charset="0"/>
                <a:cs typeface="Times New Roman" panose="02020603050405020304" pitchFamily="18" charset="0"/>
              </a:rPr>
              <a:t>	making manual monitoring ineffective.</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Splunk provides </a:t>
            </a:r>
            <a:r>
              <a:rPr lang="en-US" sz="2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Centralized Detection </a:t>
            </a:r>
            <a:r>
              <a:rPr lang="en-US" sz="2200" dirty="0">
                <a:latin typeface="Times New Roman" panose="02020603050405020304" pitchFamily="18" charset="0"/>
                <a:cs typeface="Times New Roman" panose="02020603050405020304" pitchFamily="18" charset="0"/>
              </a:rPr>
              <a:t>and </a:t>
            </a:r>
            <a:r>
              <a:rPr lang="en-US" sz="2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Analysis</a:t>
            </a:r>
            <a:r>
              <a:rPr lang="en-US" sz="2200" dirty="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This project implements SIEM using Splunk with the BOTSv1 dataset.</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Real-world attacks like brute-force, malware, and lateral movement were simulated.</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Dashboards, alerts, and event correlation were built to replicate SOC operations.</a:t>
            </a:r>
          </a:p>
          <a:p>
            <a:pPr marL="342900" indent="-34290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project highlights how Splunk transforms raw logs into actionable security intelligence.</a:t>
            </a:r>
          </a:p>
        </p:txBody>
      </p:sp>
    </p:spTree>
    <p:extLst>
      <p:ext uri="{BB962C8B-B14F-4D97-AF65-F5344CB8AC3E}">
        <p14:creationId xmlns:p14="http://schemas.microsoft.com/office/powerpoint/2010/main" val="1426030354"/>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0F6312C-36F4-AB6D-7658-32DC3E6CB57A}"/>
              </a:ext>
            </a:extLst>
          </p:cNvPr>
          <p:cNvGrpSpPr/>
          <p:nvPr/>
        </p:nvGrpSpPr>
        <p:grpSpPr>
          <a:xfrm>
            <a:off x="84084" y="188567"/>
            <a:ext cx="4638641" cy="2735504"/>
            <a:chOff x="63429" y="-187242"/>
            <a:chExt cx="4406427" cy="3191243"/>
          </a:xfrm>
        </p:grpSpPr>
        <p:sp>
          <p:nvSpPr>
            <p:cNvPr id="7" name="TextBox 6">
              <a:extLst>
                <a:ext uri="{FF2B5EF4-FFF2-40B4-BE49-F238E27FC236}">
                  <a16:creationId xmlns:a16="http://schemas.microsoft.com/office/drawing/2014/main" id="{6AA22F1D-BE01-AFF0-7EDB-6E1F567B3DB2}"/>
                </a:ext>
              </a:extLst>
            </p:cNvPr>
            <p:cNvSpPr txBox="1"/>
            <p:nvPr/>
          </p:nvSpPr>
          <p:spPr>
            <a:xfrm>
              <a:off x="63429" y="-187242"/>
              <a:ext cx="1462641" cy="2646878"/>
            </a:xfrm>
            <a:prstGeom prst="rect">
              <a:avLst/>
            </a:prstGeom>
            <a:noFill/>
            <a:ln>
              <a:noFill/>
            </a:ln>
            <a:effectLst>
              <a:outerShdw blurRad="190500" dist="101600" dir="5400000" algn="ctr" rotWithShape="0">
                <a:srgbClr val="000000">
                  <a:alpha val="43137"/>
                </a:srgbClr>
              </a:outerShdw>
            </a:effectLst>
          </p:spPr>
          <p:txBody>
            <a:bodyPr wrap="square" rtlCol="0">
              <a:spAutoFit/>
            </a:bodyPr>
            <a:lstStyle/>
            <a:p>
              <a:r>
                <a:rPr lang="en-US" sz="16600" b="1" dirty="0"/>
                <a:t>2</a:t>
              </a:r>
              <a:endParaRPr lang="en-IN" sz="16600" b="1" dirty="0"/>
            </a:p>
          </p:txBody>
        </p:sp>
        <p:sp>
          <p:nvSpPr>
            <p:cNvPr id="8" name="Isosceles Triangle 7">
              <a:extLst>
                <a:ext uri="{FF2B5EF4-FFF2-40B4-BE49-F238E27FC236}">
                  <a16:creationId xmlns:a16="http://schemas.microsoft.com/office/drawing/2014/main" id="{9E99F46B-3FD3-FF56-3288-1CF9F2BCC486}"/>
                </a:ext>
              </a:extLst>
            </p:cNvPr>
            <p:cNvSpPr/>
            <p:nvPr/>
          </p:nvSpPr>
          <p:spPr>
            <a:xfrm rot="10800000">
              <a:off x="971405" y="1136197"/>
              <a:ext cx="565969" cy="459289"/>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Parallelogram 8">
              <a:extLst>
                <a:ext uri="{FF2B5EF4-FFF2-40B4-BE49-F238E27FC236}">
                  <a16:creationId xmlns:a16="http://schemas.microsoft.com/office/drawing/2014/main" id="{13C9491E-3542-A18F-9DC4-C8A40BE61D29}"/>
                </a:ext>
              </a:extLst>
            </p:cNvPr>
            <p:cNvSpPr/>
            <p:nvPr/>
          </p:nvSpPr>
          <p:spPr>
            <a:xfrm>
              <a:off x="794750" y="347161"/>
              <a:ext cx="2375721" cy="2656840"/>
            </a:xfrm>
            <a:prstGeom prst="parallelogram">
              <a:avLst>
                <a:gd name="adj" fmla="val 36100"/>
              </a:avLst>
            </a:prstGeom>
            <a:solidFill>
              <a:srgbClr val="FFFFFF"/>
            </a:solidFill>
            <a:ln>
              <a:noFill/>
            </a:ln>
            <a:effectLst>
              <a:outerShdw blurRad="317500" dist="190500" dir="10800000" sx="86000" sy="86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Freeform: Shape 9">
              <a:extLst>
                <a:ext uri="{FF2B5EF4-FFF2-40B4-BE49-F238E27FC236}">
                  <a16:creationId xmlns:a16="http://schemas.microsoft.com/office/drawing/2014/main" id="{4E0C65C0-ED14-3762-7B1E-D53ECBAB65C1}"/>
                </a:ext>
              </a:extLst>
            </p:cNvPr>
            <p:cNvSpPr/>
            <p:nvPr/>
          </p:nvSpPr>
          <p:spPr>
            <a:xfrm>
              <a:off x="971404" y="496117"/>
              <a:ext cx="3498452" cy="640080"/>
            </a:xfrm>
            <a:custGeom>
              <a:avLst/>
              <a:gdLst>
                <a:gd name="connsiteX0" fmla="*/ 214894 w 1434934"/>
                <a:gd name="connsiteY0" fmla="*/ 0 h 640080"/>
                <a:gd name="connsiteX1" fmla="*/ 1114894 w 1434934"/>
                <a:gd name="connsiteY1" fmla="*/ 0 h 640080"/>
                <a:gd name="connsiteX2" fmla="*/ 1434934 w 1434934"/>
                <a:gd name="connsiteY2" fmla="*/ 320040 h 640080"/>
                <a:gd name="connsiteX3" fmla="*/ 1114894 w 1434934"/>
                <a:gd name="connsiteY3" fmla="*/ 640080 h 640080"/>
                <a:gd name="connsiteX4" fmla="*/ 0 w 1434934"/>
                <a:gd name="connsiteY4" fmla="*/ 640080 h 640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934" h="640080">
                  <a:moveTo>
                    <a:pt x="214894" y="0"/>
                  </a:moveTo>
                  <a:lnTo>
                    <a:pt x="1114894" y="0"/>
                  </a:lnTo>
                  <a:cubicBezTo>
                    <a:pt x="1291647" y="0"/>
                    <a:pt x="1434934" y="143287"/>
                    <a:pt x="1434934" y="320040"/>
                  </a:cubicBezTo>
                  <a:cubicBezTo>
                    <a:pt x="1434934" y="496793"/>
                    <a:pt x="1291647" y="640080"/>
                    <a:pt x="1114894" y="640080"/>
                  </a:cubicBezTo>
                  <a:lnTo>
                    <a:pt x="0" y="640080"/>
                  </a:lnTo>
                  <a:close/>
                </a:path>
              </a:pathLst>
            </a:custGeom>
            <a:solidFill>
              <a:schemeClr val="accent1"/>
            </a:soli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2400" b="1" dirty="0">
                  <a:latin typeface="Times New Roman" panose="02020603050405020304" pitchFamily="18" charset="0"/>
                  <a:cs typeface="Times New Roman" panose="02020603050405020304" pitchFamily="18" charset="0"/>
                </a:rPr>
                <a:t>Objective of the project</a:t>
              </a:r>
            </a:p>
          </p:txBody>
        </p:sp>
      </p:grpSp>
      <p:sp>
        <p:nvSpPr>
          <p:cNvPr id="11" name="TextBox 10">
            <a:extLst>
              <a:ext uri="{FF2B5EF4-FFF2-40B4-BE49-F238E27FC236}">
                <a16:creationId xmlns:a16="http://schemas.microsoft.com/office/drawing/2014/main" id="{039E175F-C91A-8B36-C3D1-8F0AC3F29D9C}"/>
              </a:ext>
            </a:extLst>
          </p:cNvPr>
          <p:cNvSpPr txBox="1"/>
          <p:nvPr/>
        </p:nvSpPr>
        <p:spPr>
          <a:xfrm>
            <a:off x="1623805" y="1519856"/>
            <a:ext cx="9132685" cy="4051878"/>
          </a:xfrm>
          <a:prstGeom prst="rect">
            <a:avLst/>
          </a:prstGeom>
          <a:noFill/>
        </p:spPr>
        <p:txBody>
          <a:bodyPr wrap="square" rtlCol="0">
            <a:spAutoFit/>
          </a:bodyPr>
          <a:lstStyle/>
          <a:p>
            <a:pPr marL="285750" indent="-285750" algn="just">
              <a:lnSpc>
                <a:spcPct val="2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To analyze real-world security logs using Splunk .</a:t>
            </a:r>
          </a:p>
          <a:p>
            <a:pPr marL="285750" indent="-285750" algn="just">
              <a:lnSpc>
                <a:spcPct val="2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Understand the imp of SIEM in cybersecurity.</a:t>
            </a:r>
          </a:p>
          <a:p>
            <a:pPr marL="285750" indent="-285750" algn="just">
              <a:lnSpc>
                <a:spcPct val="2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Explore the BOTsv1 dataset for security analysis.</a:t>
            </a:r>
          </a:p>
          <a:p>
            <a:pPr marL="285750" indent="-285750" algn="just">
              <a:lnSpc>
                <a:spcPct val="2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Perform data ingestion and log analysis in splunk</a:t>
            </a:r>
          </a:p>
          <a:p>
            <a:pPr marL="285750" indent="-285750" algn="just">
              <a:lnSpc>
                <a:spcPct val="2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Detect &amp; investigate cyberattacks using splunk.</a:t>
            </a:r>
          </a:p>
          <a:p>
            <a:pPr marL="285750" indent="-285750" algn="just">
              <a:lnSpc>
                <a:spcPct val="2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Configure Alerts for real time monitoring.</a:t>
            </a:r>
          </a:p>
        </p:txBody>
      </p:sp>
      <p:cxnSp>
        <p:nvCxnSpPr>
          <p:cNvPr id="15" name="Straight Connector 14">
            <a:extLst>
              <a:ext uri="{FF2B5EF4-FFF2-40B4-BE49-F238E27FC236}">
                <a16:creationId xmlns:a16="http://schemas.microsoft.com/office/drawing/2014/main" id="{5607D1E8-93A4-F6F4-3BEE-6F334F5102A2}"/>
              </a:ext>
            </a:extLst>
          </p:cNvPr>
          <p:cNvCxnSpPr/>
          <p:nvPr/>
        </p:nvCxnSpPr>
        <p:spPr>
          <a:xfrm>
            <a:off x="9409471" y="1323007"/>
            <a:ext cx="973394" cy="899083"/>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8B1BF3D2-B1B0-1984-E4D7-D0232C22D40F}"/>
              </a:ext>
            </a:extLst>
          </p:cNvPr>
          <p:cNvPicPr>
            <a:picLocks noChangeAspect="1"/>
          </p:cNvPicPr>
          <p:nvPr/>
        </p:nvPicPr>
        <p:blipFill>
          <a:blip r:embed="rId3">
            <a:extLst>
              <a:ext uri="{28A0092B-C50C-407E-A947-70E740481C1C}">
                <a14:useLocalDpi xmlns:a14="http://schemas.microsoft.com/office/drawing/2010/main" val="0"/>
              </a:ext>
            </a:extLst>
          </a:blip>
          <a:srcRect l="7998" t="32401" r="7132" b="37436"/>
          <a:stretch>
            <a:fillRect/>
          </a:stretch>
        </p:blipFill>
        <p:spPr>
          <a:xfrm>
            <a:off x="8119068" y="0"/>
            <a:ext cx="4072932" cy="1447517"/>
          </a:xfrm>
          <a:prstGeom prst="rect">
            <a:avLst/>
          </a:prstGeom>
          <a:effectLst>
            <a:outerShdw blurRad="127000" dist="101600" dir="8100000" algn="tr" rotWithShape="0">
              <a:prstClr val="black">
                <a:alpha val="40000"/>
              </a:prstClr>
            </a:outerShdw>
          </a:effectLst>
        </p:spPr>
      </p:pic>
    </p:spTree>
    <p:extLst>
      <p:ext uri="{BB962C8B-B14F-4D97-AF65-F5344CB8AC3E}">
        <p14:creationId xmlns:p14="http://schemas.microsoft.com/office/powerpoint/2010/main" val="1004393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1798B6E-0D62-3759-2757-F4A1822BA04C}"/>
              </a:ext>
            </a:extLst>
          </p:cNvPr>
          <p:cNvGrpSpPr/>
          <p:nvPr/>
        </p:nvGrpSpPr>
        <p:grpSpPr>
          <a:xfrm>
            <a:off x="84084" y="188567"/>
            <a:ext cx="4040642" cy="2735504"/>
            <a:chOff x="63429" y="-187242"/>
            <a:chExt cx="3838364" cy="3191243"/>
          </a:xfrm>
        </p:grpSpPr>
        <p:sp>
          <p:nvSpPr>
            <p:cNvPr id="3" name="TextBox 2">
              <a:extLst>
                <a:ext uri="{FF2B5EF4-FFF2-40B4-BE49-F238E27FC236}">
                  <a16:creationId xmlns:a16="http://schemas.microsoft.com/office/drawing/2014/main" id="{7D0C17F1-B20C-E67B-94DE-FDC357908037}"/>
                </a:ext>
              </a:extLst>
            </p:cNvPr>
            <p:cNvSpPr txBox="1"/>
            <p:nvPr/>
          </p:nvSpPr>
          <p:spPr>
            <a:xfrm>
              <a:off x="63429" y="-187242"/>
              <a:ext cx="1462641" cy="3087852"/>
            </a:xfrm>
            <a:prstGeom prst="rect">
              <a:avLst/>
            </a:prstGeom>
            <a:noFill/>
            <a:ln>
              <a:noFill/>
            </a:ln>
            <a:effectLst>
              <a:outerShdw blurRad="190500" dist="101600" dir="5400000" algn="ctr" rotWithShape="0">
                <a:srgbClr val="000000">
                  <a:alpha val="43137"/>
                </a:srgbClr>
              </a:outerShdw>
            </a:effectLst>
          </p:spPr>
          <p:txBody>
            <a:bodyPr wrap="square" rtlCol="0">
              <a:spAutoFit/>
            </a:bodyPr>
            <a:lstStyle/>
            <a:p>
              <a:r>
                <a:rPr lang="en-US" sz="16600" b="1" dirty="0"/>
                <a:t>3</a:t>
              </a:r>
              <a:endParaRPr lang="en-IN" sz="16600" b="1" dirty="0"/>
            </a:p>
          </p:txBody>
        </p:sp>
        <p:sp>
          <p:nvSpPr>
            <p:cNvPr id="4" name="Isosceles Triangle 3">
              <a:extLst>
                <a:ext uri="{FF2B5EF4-FFF2-40B4-BE49-F238E27FC236}">
                  <a16:creationId xmlns:a16="http://schemas.microsoft.com/office/drawing/2014/main" id="{322BEE6F-06A6-7D9D-7AE5-83C753E287D9}"/>
                </a:ext>
              </a:extLst>
            </p:cNvPr>
            <p:cNvSpPr/>
            <p:nvPr/>
          </p:nvSpPr>
          <p:spPr>
            <a:xfrm rot="10800000">
              <a:off x="971405" y="1136197"/>
              <a:ext cx="565969" cy="459289"/>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Parallelogram 4">
              <a:extLst>
                <a:ext uri="{FF2B5EF4-FFF2-40B4-BE49-F238E27FC236}">
                  <a16:creationId xmlns:a16="http://schemas.microsoft.com/office/drawing/2014/main" id="{DC3B0459-C8D2-E1D4-BC5C-3A7B1FB554F3}"/>
                </a:ext>
              </a:extLst>
            </p:cNvPr>
            <p:cNvSpPr/>
            <p:nvPr/>
          </p:nvSpPr>
          <p:spPr>
            <a:xfrm>
              <a:off x="794750" y="347161"/>
              <a:ext cx="2375721" cy="2656840"/>
            </a:xfrm>
            <a:prstGeom prst="parallelogram">
              <a:avLst>
                <a:gd name="adj" fmla="val 36100"/>
              </a:avLst>
            </a:prstGeom>
            <a:solidFill>
              <a:srgbClr val="FFFFFF"/>
            </a:solidFill>
            <a:ln>
              <a:noFill/>
            </a:ln>
            <a:effectLst>
              <a:outerShdw blurRad="317500" dist="190500" dir="10800000" sx="86000" sy="86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Shape 5">
              <a:extLst>
                <a:ext uri="{FF2B5EF4-FFF2-40B4-BE49-F238E27FC236}">
                  <a16:creationId xmlns:a16="http://schemas.microsoft.com/office/drawing/2014/main" id="{FF8CA96F-6415-69DC-65D6-9F9246FBAD3F}"/>
                </a:ext>
              </a:extLst>
            </p:cNvPr>
            <p:cNvSpPr/>
            <p:nvPr/>
          </p:nvSpPr>
          <p:spPr>
            <a:xfrm>
              <a:off x="971405" y="347161"/>
              <a:ext cx="2930388" cy="789037"/>
            </a:xfrm>
            <a:custGeom>
              <a:avLst/>
              <a:gdLst>
                <a:gd name="connsiteX0" fmla="*/ 214894 w 1434934"/>
                <a:gd name="connsiteY0" fmla="*/ 0 h 640080"/>
                <a:gd name="connsiteX1" fmla="*/ 1114894 w 1434934"/>
                <a:gd name="connsiteY1" fmla="*/ 0 h 640080"/>
                <a:gd name="connsiteX2" fmla="*/ 1434934 w 1434934"/>
                <a:gd name="connsiteY2" fmla="*/ 320040 h 640080"/>
                <a:gd name="connsiteX3" fmla="*/ 1114894 w 1434934"/>
                <a:gd name="connsiteY3" fmla="*/ 640080 h 640080"/>
                <a:gd name="connsiteX4" fmla="*/ 0 w 1434934"/>
                <a:gd name="connsiteY4" fmla="*/ 640080 h 640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934" h="640080">
                  <a:moveTo>
                    <a:pt x="214894" y="0"/>
                  </a:moveTo>
                  <a:lnTo>
                    <a:pt x="1114894" y="0"/>
                  </a:lnTo>
                  <a:cubicBezTo>
                    <a:pt x="1291647" y="0"/>
                    <a:pt x="1434934" y="143287"/>
                    <a:pt x="1434934" y="320040"/>
                  </a:cubicBezTo>
                  <a:cubicBezTo>
                    <a:pt x="1434934" y="496793"/>
                    <a:pt x="1291647" y="640080"/>
                    <a:pt x="1114894" y="640080"/>
                  </a:cubicBezTo>
                  <a:lnTo>
                    <a:pt x="0" y="640080"/>
                  </a:lnTo>
                  <a:close/>
                </a:path>
              </a:pathLst>
            </a:custGeom>
            <a:solidFill>
              <a:schemeClr val="accent1"/>
            </a:soli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IN" sz="2400" b="1" dirty="0">
                  <a:latin typeface="Times New Roman" panose="02020603050405020304" pitchFamily="18" charset="0"/>
                  <a:cs typeface="Times New Roman" panose="02020603050405020304" pitchFamily="18" charset="0"/>
                </a:rPr>
                <a:t>Industry </a:t>
              </a:r>
              <a:r>
                <a:rPr lang="en-IN" sz="2400" b="1" dirty="0" err="1">
                  <a:latin typeface="Times New Roman" panose="02020603050405020304" pitchFamily="18" charset="0"/>
                  <a:cs typeface="Times New Roman" panose="02020603050405020304" pitchFamily="18" charset="0"/>
                </a:rPr>
                <a:t>Relavence</a:t>
              </a:r>
              <a:endParaRPr lang="en-US" sz="2400" b="1" dirty="0">
                <a:latin typeface="Times New Roman" panose="02020603050405020304" pitchFamily="18" charset="0"/>
                <a:cs typeface="Times New Roman" panose="02020603050405020304" pitchFamily="18" charset="0"/>
              </a:endParaRPr>
            </a:p>
          </p:txBody>
        </p:sp>
      </p:grpSp>
      <p:sp>
        <p:nvSpPr>
          <p:cNvPr id="7" name="TextBox 6">
            <a:extLst>
              <a:ext uri="{FF2B5EF4-FFF2-40B4-BE49-F238E27FC236}">
                <a16:creationId xmlns:a16="http://schemas.microsoft.com/office/drawing/2014/main" id="{A4BB250F-51FF-FD32-CC94-6E55F9D2FB29}"/>
              </a:ext>
            </a:extLst>
          </p:cNvPr>
          <p:cNvSpPr txBox="1"/>
          <p:nvPr/>
        </p:nvSpPr>
        <p:spPr>
          <a:xfrm>
            <a:off x="2582317" y="1518711"/>
            <a:ext cx="5895477" cy="4411785"/>
          </a:xfrm>
          <a:prstGeom prst="rect">
            <a:avLst/>
          </a:prstGeom>
          <a:noFill/>
        </p:spPr>
        <p:txBody>
          <a:bodyPr wrap="square" rtlCol="0">
            <a:spAutoFit/>
          </a:bodyPr>
          <a:lstStyle/>
          <a:p>
            <a:pPr marL="285750" indent="-285750">
              <a:lnSpc>
                <a:spcPct val="20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Real-world application</a:t>
            </a:r>
          </a:p>
          <a:p>
            <a:pPr marL="285750" indent="-285750">
              <a:lnSpc>
                <a:spcPct val="20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High demand in SOCs</a:t>
            </a:r>
          </a:p>
          <a:p>
            <a:pPr marL="285750" indent="-285750">
              <a:lnSpc>
                <a:spcPct val="20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Cross-industry adoption</a:t>
            </a:r>
          </a:p>
          <a:p>
            <a:pPr marL="285750" indent="-285750">
              <a:lnSpc>
                <a:spcPct val="20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Regulatory compliance</a:t>
            </a:r>
          </a:p>
          <a:p>
            <a:pPr marL="285750" indent="-285750">
              <a:lnSpc>
                <a:spcPct val="20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Skill relevance</a:t>
            </a:r>
          </a:p>
          <a:p>
            <a:pPr marL="285750" indent="-285750">
              <a:lnSpc>
                <a:spcPct val="200000"/>
              </a:lnSpc>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Faster response to threats</a:t>
            </a:r>
          </a:p>
        </p:txBody>
      </p:sp>
    </p:spTree>
    <p:extLst>
      <p:ext uri="{BB962C8B-B14F-4D97-AF65-F5344CB8AC3E}">
        <p14:creationId xmlns:p14="http://schemas.microsoft.com/office/powerpoint/2010/main" val="1985346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2000" fill="hold"/>
                                        <p:tgtEl>
                                          <p:spTgt spid="2"/>
                                        </p:tgtEl>
                                        <p:attrNameLst>
                                          <p:attrName>ppt_x</p:attrName>
                                        </p:attrNameLst>
                                      </p:cBhvr>
                                      <p:tavLst>
                                        <p:tav tm="0">
                                          <p:val>
                                            <p:strVal val="1+#ppt_w/2"/>
                                          </p:val>
                                        </p:tav>
                                        <p:tav tm="100000">
                                          <p:val>
                                            <p:strVal val="#ppt_x"/>
                                          </p:val>
                                        </p:tav>
                                      </p:tavLst>
                                    </p:anim>
                                    <p:anim calcmode="lin" valueType="num">
                                      <p:cBhvr additive="base">
                                        <p:cTn id="8" dur="2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D1152-5ED3-EAFF-A310-9F4BB34CD63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2C9523E3-8D77-1AFF-C105-2A311DA5E912}"/>
              </a:ext>
            </a:extLst>
          </p:cNvPr>
          <p:cNvGrpSpPr/>
          <p:nvPr/>
        </p:nvGrpSpPr>
        <p:grpSpPr>
          <a:xfrm>
            <a:off x="-11586" y="-386134"/>
            <a:ext cx="3456743" cy="2889317"/>
            <a:chOff x="63429" y="-187242"/>
            <a:chExt cx="3283696" cy="3370681"/>
          </a:xfrm>
        </p:grpSpPr>
        <p:sp>
          <p:nvSpPr>
            <p:cNvPr id="3" name="TextBox 2">
              <a:extLst>
                <a:ext uri="{FF2B5EF4-FFF2-40B4-BE49-F238E27FC236}">
                  <a16:creationId xmlns:a16="http://schemas.microsoft.com/office/drawing/2014/main" id="{FFBAB1C6-2B3F-9A98-FB0D-6650C5B5422A}"/>
                </a:ext>
              </a:extLst>
            </p:cNvPr>
            <p:cNvSpPr txBox="1"/>
            <p:nvPr/>
          </p:nvSpPr>
          <p:spPr>
            <a:xfrm>
              <a:off x="63429" y="-187242"/>
              <a:ext cx="1462641" cy="3087852"/>
            </a:xfrm>
            <a:prstGeom prst="rect">
              <a:avLst/>
            </a:prstGeom>
            <a:noFill/>
            <a:ln>
              <a:noFill/>
            </a:ln>
            <a:effectLst>
              <a:outerShdw blurRad="190500" dist="101600" dir="5400000" algn="ctr" rotWithShape="0">
                <a:srgbClr val="000000">
                  <a:alpha val="43137"/>
                </a:srgbClr>
              </a:outerShdw>
            </a:effectLst>
          </p:spPr>
          <p:txBody>
            <a:bodyPr wrap="square" rtlCol="0">
              <a:spAutoFit/>
            </a:bodyPr>
            <a:lstStyle/>
            <a:p>
              <a:r>
                <a:rPr lang="en-US" sz="16600" b="1" dirty="0"/>
                <a:t>4</a:t>
              </a:r>
              <a:endParaRPr lang="en-IN" sz="16600" b="1" dirty="0"/>
            </a:p>
          </p:txBody>
        </p:sp>
        <p:sp>
          <p:nvSpPr>
            <p:cNvPr id="4" name="Isosceles Triangle 3">
              <a:extLst>
                <a:ext uri="{FF2B5EF4-FFF2-40B4-BE49-F238E27FC236}">
                  <a16:creationId xmlns:a16="http://schemas.microsoft.com/office/drawing/2014/main" id="{4140DCE4-A756-951D-2B1F-5FA3B302DB0A}"/>
                </a:ext>
              </a:extLst>
            </p:cNvPr>
            <p:cNvSpPr/>
            <p:nvPr/>
          </p:nvSpPr>
          <p:spPr>
            <a:xfrm rot="10800000">
              <a:off x="971405" y="1136197"/>
              <a:ext cx="565969" cy="459289"/>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Parallelogram 4">
              <a:extLst>
                <a:ext uri="{FF2B5EF4-FFF2-40B4-BE49-F238E27FC236}">
                  <a16:creationId xmlns:a16="http://schemas.microsoft.com/office/drawing/2014/main" id="{BC6A059D-5CFF-C86C-9183-DF691D431DF1}"/>
                </a:ext>
              </a:extLst>
            </p:cNvPr>
            <p:cNvSpPr/>
            <p:nvPr/>
          </p:nvSpPr>
          <p:spPr>
            <a:xfrm>
              <a:off x="794749" y="526599"/>
              <a:ext cx="2375721" cy="2656840"/>
            </a:xfrm>
            <a:prstGeom prst="parallelogram">
              <a:avLst>
                <a:gd name="adj" fmla="val 36100"/>
              </a:avLst>
            </a:prstGeom>
            <a:solidFill>
              <a:srgbClr val="FFFFFF"/>
            </a:solidFill>
            <a:ln>
              <a:noFill/>
            </a:ln>
            <a:effectLst>
              <a:outerShdw blurRad="317500" dist="190500" dir="10800000" sx="86000" sy="86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Shape 5">
              <a:extLst>
                <a:ext uri="{FF2B5EF4-FFF2-40B4-BE49-F238E27FC236}">
                  <a16:creationId xmlns:a16="http://schemas.microsoft.com/office/drawing/2014/main" id="{D41ECA66-063D-B4B7-0A37-95CADEF22518}"/>
                </a:ext>
              </a:extLst>
            </p:cNvPr>
            <p:cNvSpPr/>
            <p:nvPr/>
          </p:nvSpPr>
          <p:spPr>
            <a:xfrm>
              <a:off x="971404" y="496117"/>
              <a:ext cx="2375721" cy="640080"/>
            </a:xfrm>
            <a:custGeom>
              <a:avLst/>
              <a:gdLst>
                <a:gd name="connsiteX0" fmla="*/ 214894 w 1434934"/>
                <a:gd name="connsiteY0" fmla="*/ 0 h 640080"/>
                <a:gd name="connsiteX1" fmla="*/ 1114894 w 1434934"/>
                <a:gd name="connsiteY1" fmla="*/ 0 h 640080"/>
                <a:gd name="connsiteX2" fmla="*/ 1434934 w 1434934"/>
                <a:gd name="connsiteY2" fmla="*/ 320040 h 640080"/>
                <a:gd name="connsiteX3" fmla="*/ 1114894 w 1434934"/>
                <a:gd name="connsiteY3" fmla="*/ 640080 h 640080"/>
                <a:gd name="connsiteX4" fmla="*/ 0 w 1434934"/>
                <a:gd name="connsiteY4" fmla="*/ 640080 h 640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934" h="640080">
                  <a:moveTo>
                    <a:pt x="214894" y="0"/>
                  </a:moveTo>
                  <a:lnTo>
                    <a:pt x="1114894" y="0"/>
                  </a:lnTo>
                  <a:cubicBezTo>
                    <a:pt x="1291647" y="0"/>
                    <a:pt x="1434934" y="143287"/>
                    <a:pt x="1434934" y="320040"/>
                  </a:cubicBezTo>
                  <a:cubicBezTo>
                    <a:pt x="1434934" y="496793"/>
                    <a:pt x="1291647" y="640080"/>
                    <a:pt x="1114894" y="640080"/>
                  </a:cubicBezTo>
                  <a:lnTo>
                    <a:pt x="0" y="640080"/>
                  </a:lnTo>
                  <a:close/>
                </a:path>
              </a:pathLst>
            </a:custGeom>
            <a:solidFill>
              <a:schemeClr val="accent1"/>
            </a:soli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2400" b="1" dirty="0">
                  <a:latin typeface="Times New Roman" panose="02020603050405020304" pitchFamily="18" charset="0"/>
                  <a:cs typeface="Times New Roman" panose="02020603050405020304" pitchFamily="18" charset="0"/>
                </a:rPr>
                <a:t>Methodology</a:t>
              </a:r>
            </a:p>
          </p:txBody>
        </p:sp>
      </p:grpSp>
      <p:grpSp>
        <p:nvGrpSpPr>
          <p:cNvPr id="7" name="Group 6">
            <a:extLst>
              <a:ext uri="{FF2B5EF4-FFF2-40B4-BE49-F238E27FC236}">
                <a16:creationId xmlns:a16="http://schemas.microsoft.com/office/drawing/2014/main" id="{CA2FCFBB-5ADE-0F95-2342-1A2BFDE5C49D}"/>
              </a:ext>
            </a:extLst>
          </p:cNvPr>
          <p:cNvGrpSpPr/>
          <p:nvPr/>
        </p:nvGrpSpPr>
        <p:grpSpPr>
          <a:xfrm>
            <a:off x="1302506" y="925034"/>
            <a:ext cx="10899892" cy="5866686"/>
            <a:chOff x="1172703" y="925032"/>
            <a:chExt cx="10899892" cy="5866686"/>
          </a:xfrm>
        </p:grpSpPr>
        <p:sp>
          <p:nvSpPr>
            <p:cNvPr id="8" name="Speech Bubble: Rectangle 7">
              <a:extLst>
                <a:ext uri="{FF2B5EF4-FFF2-40B4-BE49-F238E27FC236}">
                  <a16:creationId xmlns:a16="http://schemas.microsoft.com/office/drawing/2014/main" id="{ADDE8CD0-5AFC-2FDB-C9BC-E86411FE58FE}"/>
                </a:ext>
              </a:extLst>
            </p:cNvPr>
            <p:cNvSpPr/>
            <p:nvPr/>
          </p:nvSpPr>
          <p:spPr>
            <a:xfrm>
              <a:off x="9950168" y="2096962"/>
              <a:ext cx="2122427" cy="4694756"/>
            </a:xfrm>
            <a:prstGeom prst="wedgeRectCallout">
              <a:avLst>
                <a:gd name="adj1" fmla="val 0"/>
                <a:gd name="adj2" fmla="val 0"/>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Correlated multiple logs/events to detect multi-stage attacks.</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Linked different attack phases to understand the kill chain.</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Enhanced threat detection by combining user, host, and network activity data.</a:t>
              </a:r>
            </a:p>
            <a:p>
              <a:pPr marL="285750" indent="-285750">
                <a:buFont typeface="Arial" panose="020B0604020202020204" pitchFamily="34" charset="0"/>
                <a:buChar char="•"/>
              </a:pPr>
              <a:endParaRPr lang="en-IN" dirty="0"/>
            </a:p>
          </p:txBody>
        </p:sp>
        <p:sp>
          <p:nvSpPr>
            <p:cNvPr id="10" name="Freeform: Shape 9">
              <a:extLst>
                <a:ext uri="{FF2B5EF4-FFF2-40B4-BE49-F238E27FC236}">
                  <a16:creationId xmlns:a16="http://schemas.microsoft.com/office/drawing/2014/main" id="{134F3531-5F8E-17B5-3DF6-1C2FD83A032A}"/>
                </a:ext>
              </a:extLst>
            </p:cNvPr>
            <p:cNvSpPr/>
            <p:nvPr/>
          </p:nvSpPr>
          <p:spPr>
            <a:xfrm>
              <a:off x="9951210" y="925032"/>
              <a:ext cx="2110987" cy="1242956"/>
            </a:xfrm>
            <a:custGeom>
              <a:avLst/>
              <a:gdLst>
                <a:gd name="connsiteX0" fmla="*/ 0 w 2110987"/>
                <a:gd name="connsiteY0" fmla="*/ 0 h 1242956"/>
                <a:gd name="connsiteX1" fmla="*/ 2110987 w 2110987"/>
                <a:gd name="connsiteY1" fmla="*/ 0 h 1242956"/>
                <a:gd name="connsiteX2" fmla="*/ 2110987 w 2110987"/>
                <a:gd name="connsiteY2" fmla="*/ 1242956 h 1242956"/>
                <a:gd name="connsiteX3" fmla="*/ 0 w 2110987"/>
                <a:gd name="connsiteY3" fmla="*/ 1242956 h 1242956"/>
                <a:gd name="connsiteX4" fmla="*/ 0 w 2110987"/>
                <a:gd name="connsiteY4" fmla="*/ 0 h 1242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0987" h="1242956">
                  <a:moveTo>
                    <a:pt x="0" y="0"/>
                  </a:moveTo>
                  <a:lnTo>
                    <a:pt x="2110987" y="0"/>
                  </a:lnTo>
                  <a:lnTo>
                    <a:pt x="2110987" y="1242956"/>
                  </a:lnTo>
                  <a:lnTo>
                    <a:pt x="0" y="1242956"/>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7150" tIns="57150" rIns="57150" bIns="57150" numCol="1" spcCol="1270" anchor="ctr" anchorCtr="0">
              <a:noAutofit/>
            </a:bodyPr>
            <a:lstStyle/>
            <a:p>
              <a:pPr marL="0" lvl="0" indent="0" algn="ctr" defTabSz="800100">
                <a:lnSpc>
                  <a:spcPct val="90000"/>
                </a:lnSpc>
                <a:spcBef>
                  <a:spcPct val="0"/>
                </a:spcBef>
                <a:spcAft>
                  <a:spcPct val="35000"/>
                </a:spcAft>
                <a:buNone/>
              </a:pPr>
              <a:r>
                <a:rPr lang="en-IN" sz="1800" b="1" kern="1200" dirty="0">
                  <a:solidFill>
                    <a:schemeClr val="tx1"/>
                  </a:solidFill>
                  <a:latin typeface="Times New Roman" panose="02020603050405020304" pitchFamily="18" charset="0"/>
                  <a:cs typeface="Times New Roman" panose="02020603050405020304" pitchFamily="18" charset="0"/>
                </a:rPr>
                <a:t>Event </a:t>
              </a:r>
            </a:p>
            <a:p>
              <a:pPr marL="0" lvl="0" indent="0" algn="ctr" defTabSz="800100">
                <a:lnSpc>
                  <a:spcPct val="90000"/>
                </a:lnSpc>
                <a:spcBef>
                  <a:spcPct val="0"/>
                </a:spcBef>
                <a:spcAft>
                  <a:spcPct val="35000"/>
                </a:spcAft>
                <a:buNone/>
              </a:pPr>
              <a:r>
                <a:rPr lang="en-IN" sz="1800" b="1" kern="1200" dirty="0">
                  <a:solidFill>
                    <a:schemeClr val="tx1"/>
                  </a:solidFill>
                  <a:latin typeface="Times New Roman" panose="02020603050405020304" pitchFamily="18" charset="0"/>
                  <a:cs typeface="Times New Roman" panose="02020603050405020304" pitchFamily="18" charset="0"/>
                </a:rPr>
                <a:t>Correlation</a:t>
              </a:r>
            </a:p>
          </p:txBody>
        </p:sp>
        <p:sp>
          <p:nvSpPr>
            <p:cNvPr id="12" name="Speech Bubble: Rectangle 11">
              <a:extLst>
                <a:ext uri="{FF2B5EF4-FFF2-40B4-BE49-F238E27FC236}">
                  <a16:creationId xmlns:a16="http://schemas.microsoft.com/office/drawing/2014/main" id="{2DDD454C-8D3B-B6F8-F8D0-770807EFFADE}"/>
                </a:ext>
              </a:extLst>
            </p:cNvPr>
            <p:cNvSpPr/>
            <p:nvPr/>
          </p:nvSpPr>
          <p:spPr>
            <a:xfrm>
              <a:off x="8127454" y="2163242"/>
              <a:ext cx="1813358" cy="4418873"/>
            </a:xfrm>
            <a:prstGeom prst="wedgeRectCallout">
              <a:avLst>
                <a:gd name="adj1" fmla="val 58705"/>
                <a:gd name="adj2" fmla="val 21053"/>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Created custom alerts for detecting critical incidents</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Configured threshold-based alerts for brute force login attempts, </a:t>
              </a:r>
              <a:r>
                <a:rPr lang="en-US" dirty="0" err="1">
                  <a:solidFill>
                    <a:schemeClr val="tx1"/>
                  </a:solidFill>
                  <a:latin typeface="Times New Roman" panose="02020603050405020304" pitchFamily="18" charset="0"/>
                  <a:cs typeface="Times New Roman" panose="02020603050405020304" pitchFamily="18" charset="0"/>
                </a:rPr>
                <a:t>etc</a:t>
              </a:r>
              <a:endParaRPr lang="en-US" dirty="0">
                <a:solidFill>
                  <a:schemeClr val="tx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Enabled real-time notifications for immediate action.</a:t>
              </a:r>
            </a:p>
            <a:p>
              <a:pPr marL="285750" indent="-285750">
                <a:buFont typeface="Arial" panose="020B0604020202020204" pitchFamily="34" charset="0"/>
                <a:buChar char="•"/>
              </a:pPr>
              <a:endParaRPr lang="en-IN" dirty="0">
                <a:solidFill>
                  <a:schemeClr val="tx1"/>
                </a:solidFill>
              </a:endParaRPr>
            </a:p>
          </p:txBody>
        </p:sp>
        <p:sp>
          <p:nvSpPr>
            <p:cNvPr id="14" name="Freeform: Shape 13">
              <a:extLst>
                <a:ext uri="{FF2B5EF4-FFF2-40B4-BE49-F238E27FC236}">
                  <a16:creationId xmlns:a16="http://schemas.microsoft.com/office/drawing/2014/main" id="{109F930C-FC3B-5A36-BEF6-59F5365B7702}"/>
                </a:ext>
              </a:extLst>
            </p:cNvPr>
            <p:cNvSpPr/>
            <p:nvPr/>
          </p:nvSpPr>
          <p:spPr>
            <a:xfrm>
              <a:off x="8073372" y="1058523"/>
              <a:ext cx="1860919" cy="1104718"/>
            </a:xfrm>
            <a:custGeom>
              <a:avLst/>
              <a:gdLst>
                <a:gd name="connsiteX0" fmla="*/ 0 w 1860919"/>
                <a:gd name="connsiteY0" fmla="*/ 0 h 1104718"/>
                <a:gd name="connsiteX1" fmla="*/ 1860919 w 1860919"/>
                <a:gd name="connsiteY1" fmla="*/ 0 h 1104718"/>
                <a:gd name="connsiteX2" fmla="*/ 1860919 w 1860919"/>
                <a:gd name="connsiteY2" fmla="*/ 1104718 h 1104718"/>
                <a:gd name="connsiteX3" fmla="*/ 0 w 1860919"/>
                <a:gd name="connsiteY3" fmla="*/ 1104718 h 1104718"/>
                <a:gd name="connsiteX4" fmla="*/ 0 w 1860919"/>
                <a:gd name="connsiteY4" fmla="*/ 0 h 1104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0919" h="1104718">
                  <a:moveTo>
                    <a:pt x="0" y="0"/>
                  </a:moveTo>
                  <a:lnTo>
                    <a:pt x="1860919" y="0"/>
                  </a:lnTo>
                  <a:lnTo>
                    <a:pt x="1860919" y="1104718"/>
                  </a:lnTo>
                  <a:lnTo>
                    <a:pt x="0" y="1104718"/>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7150" tIns="57150" rIns="57150" bIns="57150" numCol="1" spcCol="1270" anchor="ctr" anchorCtr="0">
              <a:noAutofit/>
            </a:bodyPr>
            <a:lstStyle/>
            <a:p>
              <a:pPr marL="0" lvl="0" indent="0" algn="ctr" defTabSz="800100">
                <a:lnSpc>
                  <a:spcPct val="90000"/>
                </a:lnSpc>
                <a:spcBef>
                  <a:spcPct val="0"/>
                </a:spcBef>
                <a:spcAft>
                  <a:spcPct val="35000"/>
                </a:spcAft>
                <a:buNone/>
              </a:pPr>
              <a:r>
                <a:rPr lang="en-IN" sz="1800" kern="1200" dirty="0">
                  <a:solidFill>
                    <a:schemeClr val="tx1"/>
                  </a:solidFill>
                  <a:latin typeface="Times New Roman" panose="02020603050405020304" pitchFamily="18" charset="0"/>
                  <a:cs typeface="Times New Roman" panose="02020603050405020304" pitchFamily="18" charset="0"/>
                </a:rPr>
                <a:t>         Alert Configuration</a:t>
              </a:r>
            </a:p>
          </p:txBody>
        </p:sp>
        <p:sp>
          <p:nvSpPr>
            <p:cNvPr id="16" name="Speech Bubble: Rectangle 15">
              <a:extLst>
                <a:ext uri="{FF2B5EF4-FFF2-40B4-BE49-F238E27FC236}">
                  <a16:creationId xmlns:a16="http://schemas.microsoft.com/office/drawing/2014/main" id="{0ED48AAE-3979-BC3A-80DA-FB5FA5D1951C}"/>
                </a:ext>
              </a:extLst>
            </p:cNvPr>
            <p:cNvSpPr/>
            <p:nvPr/>
          </p:nvSpPr>
          <p:spPr>
            <a:xfrm>
              <a:off x="6392414" y="2163242"/>
              <a:ext cx="1740250" cy="4142397"/>
            </a:xfrm>
            <a:prstGeom prst="wedgeRectCallout">
              <a:avLst>
                <a:gd name="adj1" fmla="val 57980"/>
                <a:gd name="adj2" fmla="val 22017"/>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marL="285750" indent="-285750">
                <a:buFont typeface="Arial" panose="020B0604020202020204" pitchFamily="34" charset="0"/>
                <a:buChar char="•"/>
              </a:pPr>
              <a:r>
                <a:rPr lang="en-IN" dirty="0">
                  <a:solidFill>
                    <a:schemeClr val="tx1"/>
                  </a:solidFill>
                  <a:latin typeface="Times New Roman" panose="02020603050405020304" pitchFamily="18" charset="0"/>
                  <a:cs typeface="Times New Roman" panose="02020603050405020304" pitchFamily="18" charset="0"/>
                </a:rPr>
                <a:t>Designed interactive dashboards </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Visualized attack patterns, system activities, and user behaviors</a:t>
              </a:r>
            </a:p>
            <a:p>
              <a:pPr marL="285750" indent="-285750">
                <a:buFont typeface="Arial" panose="020B0604020202020204" pitchFamily="34" charset="0"/>
                <a:buChar char="•"/>
              </a:pPr>
              <a:r>
                <a:rPr lang="en-US" dirty="0">
                  <a:solidFill>
                    <a:schemeClr val="tx1"/>
                  </a:solidFill>
                  <a:latin typeface="Times New Roman" panose="02020603050405020304" pitchFamily="18" charset="0"/>
                  <a:cs typeface="Times New Roman" panose="02020603050405020304" pitchFamily="18" charset="0"/>
                </a:rPr>
                <a:t>Provided a single-pane-of-glass for SOC monitoring</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18" name="Freeform: Shape 17">
              <a:extLst>
                <a:ext uri="{FF2B5EF4-FFF2-40B4-BE49-F238E27FC236}">
                  <a16:creationId xmlns:a16="http://schemas.microsoft.com/office/drawing/2014/main" id="{4D7F17DC-EC62-5148-768A-59AFF0160C3F}"/>
                </a:ext>
              </a:extLst>
            </p:cNvPr>
            <p:cNvSpPr/>
            <p:nvPr/>
          </p:nvSpPr>
          <p:spPr>
            <a:xfrm>
              <a:off x="6393456" y="1196761"/>
              <a:ext cx="1740250" cy="966480"/>
            </a:xfrm>
            <a:custGeom>
              <a:avLst/>
              <a:gdLst>
                <a:gd name="connsiteX0" fmla="*/ 0 w 1740250"/>
                <a:gd name="connsiteY0" fmla="*/ 0 h 966480"/>
                <a:gd name="connsiteX1" fmla="*/ 1740250 w 1740250"/>
                <a:gd name="connsiteY1" fmla="*/ 0 h 966480"/>
                <a:gd name="connsiteX2" fmla="*/ 1740250 w 1740250"/>
                <a:gd name="connsiteY2" fmla="*/ 966480 h 966480"/>
                <a:gd name="connsiteX3" fmla="*/ 0 w 1740250"/>
                <a:gd name="connsiteY3" fmla="*/ 966480 h 966480"/>
                <a:gd name="connsiteX4" fmla="*/ 0 w 1740250"/>
                <a:gd name="connsiteY4" fmla="*/ 0 h 966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0250" h="966480">
                  <a:moveTo>
                    <a:pt x="0" y="0"/>
                  </a:moveTo>
                  <a:lnTo>
                    <a:pt x="1740250" y="0"/>
                  </a:lnTo>
                  <a:lnTo>
                    <a:pt x="1740250" y="966480"/>
                  </a:lnTo>
                  <a:lnTo>
                    <a:pt x="0" y="966480"/>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7150" tIns="57150" rIns="57150" bIns="57150" numCol="1" spcCol="1270" anchor="ctr" anchorCtr="0">
              <a:noAutofit/>
            </a:bodyPr>
            <a:lstStyle/>
            <a:p>
              <a:pPr marL="0" lvl="0" indent="0" algn="ctr" defTabSz="800100">
                <a:lnSpc>
                  <a:spcPct val="90000"/>
                </a:lnSpc>
                <a:spcBef>
                  <a:spcPct val="0"/>
                </a:spcBef>
                <a:spcAft>
                  <a:spcPct val="35000"/>
                </a:spcAft>
                <a:buNone/>
              </a:pPr>
              <a:r>
                <a:rPr lang="en-IN" sz="1800" kern="1200" dirty="0">
                  <a:solidFill>
                    <a:schemeClr val="tx1"/>
                  </a:solidFill>
                  <a:latin typeface="Times New Roman" panose="02020603050405020304" pitchFamily="18" charset="0"/>
                  <a:cs typeface="Times New Roman" panose="02020603050405020304" pitchFamily="18" charset="0"/>
                </a:rPr>
                <a:t>          Dashboard     Development</a:t>
              </a:r>
            </a:p>
          </p:txBody>
        </p:sp>
        <p:sp>
          <p:nvSpPr>
            <p:cNvPr id="20" name="Speech Bubble: Rectangle 19">
              <a:extLst>
                <a:ext uri="{FF2B5EF4-FFF2-40B4-BE49-F238E27FC236}">
                  <a16:creationId xmlns:a16="http://schemas.microsoft.com/office/drawing/2014/main" id="{0F7B5A04-6D72-BCF5-0D91-FCF59F380708}"/>
                </a:ext>
              </a:extLst>
            </p:cNvPr>
            <p:cNvSpPr/>
            <p:nvPr/>
          </p:nvSpPr>
          <p:spPr>
            <a:xfrm>
              <a:off x="4652163" y="2163241"/>
              <a:ext cx="1740250" cy="3981917"/>
            </a:xfrm>
            <a:prstGeom prst="wedgeRectCallout">
              <a:avLst>
                <a:gd name="adj1" fmla="val 54590"/>
                <a:gd name="adj2" fmla="val 22558"/>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marL="2857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Performed detailed investigation of logs.</a:t>
              </a:r>
            </a:p>
            <a:p>
              <a:pPr marL="2857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Identified malicious patterns, anomalies, and suspicious user activity.</a:t>
              </a:r>
            </a:p>
            <a:p>
              <a:pPr marL="2857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Focused on detection of brute force attempts, </a:t>
              </a:r>
              <a:r>
                <a:rPr lang="en-IN" sz="1600" dirty="0">
                  <a:solidFill>
                    <a:schemeClr val="tx1"/>
                  </a:solidFill>
                  <a:latin typeface="Times New Roman" panose="02020603050405020304" pitchFamily="18" charset="0"/>
                  <a:cs typeface="Times New Roman" panose="02020603050405020304" pitchFamily="18" charset="0"/>
                </a:rPr>
                <a:t>and malware execution</a:t>
              </a:r>
            </a:p>
          </p:txBody>
        </p:sp>
        <p:sp>
          <p:nvSpPr>
            <p:cNvPr id="22" name="Freeform: Shape 21">
              <a:extLst>
                <a:ext uri="{FF2B5EF4-FFF2-40B4-BE49-F238E27FC236}">
                  <a16:creationId xmlns:a16="http://schemas.microsoft.com/office/drawing/2014/main" id="{CBB80FB2-8203-28BC-09A8-C297CAC86068}"/>
                </a:ext>
              </a:extLst>
            </p:cNvPr>
            <p:cNvSpPr/>
            <p:nvPr/>
          </p:nvSpPr>
          <p:spPr>
            <a:xfrm>
              <a:off x="4652163" y="1339153"/>
              <a:ext cx="1740250" cy="828242"/>
            </a:xfrm>
            <a:custGeom>
              <a:avLst/>
              <a:gdLst>
                <a:gd name="connsiteX0" fmla="*/ 0 w 1740250"/>
                <a:gd name="connsiteY0" fmla="*/ 0 h 828242"/>
                <a:gd name="connsiteX1" fmla="*/ 1740250 w 1740250"/>
                <a:gd name="connsiteY1" fmla="*/ 0 h 828242"/>
                <a:gd name="connsiteX2" fmla="*/ 1740250 w 1740250"/>
                <a:gd name="connsiteY2" fmla="*/ 828242 h 828242"/>
                <a:gd name="connsiteX3" fmla="*/ 0 w 1740250"/>
                <a:gd name="connsiteY3" fmla="*/ 828242 h 828242"/>
                <a:gd name="connsiteX4" fmla="*/ 0 w 1740250"/>
                <a:gd name="connsiteY4" fmla="*/ 0 h 828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0250" h="828242">
                  <a:moveTo>
                    <a:pt x="0" y="0"/>
                  </a:moveTo>
                  <a:lnTo>
                    <a:pt x="1740250" y="0"/>
                  </a:lnTo>
                  <a:lnTo>
                    <a:pt x="1740250" y="828242"/>
                  </a:lnTo>
                  <a:lnTo>
                    <a:pt x="0" y="828242"/>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7150" tIns="57150" rIns="57150" bIns="57150" numCol="1" spcCol="1270" anchor="ctr" anchorCtr="0">
              <a:noAutofit/>
            </a:bodyPr>
            <a:lstStyle/>
            <a:p>
              <a:pPr marL="0" lvl="0" indent="0" algn="l" defTabSz="800100">
                <a:lnSpc>
                  <a:spcPct val="90000"/>
                </a:lnSpc>
                <a:spcBef>
                  <a:spcPct val="0"/>
                </a:spcBef>
                <a:spcAft>
                  <a:spcPct val="35000"/>
                </a:spcAft>
                <a:buNone/>
              </a:pPr>
              <a:r>
                <a:rPr lang="en-IN" sz="1800" kern="1200" dirty="0">
                  <a:solidFill>
                    <a:schemeClr val="tx1"/>
                  </a:solidFill>
                  <a:latin typeface="Times New Roman" panose="02020603050405020304" pitchFamily="18" charset="0"/>
                  <a:cs typeface="Times New Roman" panose="02020603050405020304" pitchFamily="18" charset="0"/>
                </a:rPr>
                <a:t>Log </a:t>
              </a:r>
            </a:p>
            <a:p>
              <a:pPr marL="0" lvl="0" indent="0" algn="l" defTabSz="800100">
                <a:lnSpc>
                  <a:spcPct val="90000"/>
                </a:lnSpc>
                <a:spcBef>
                  <a:spcPct val="0"/>
                </a:spcBef>
                <a:spcAft>
                  <a:spcPct val="35000"/>
                </a:spcAft>
                <a:buNone/>
              </a:pPr>
              <a:r>
                <a:rPr lang="en-IN" sz="1800" kern="1200" dirty="0">
                  <a:solidFill>
                    <a:schemeClr val="tx1"/>
                  </a:solidFill>
                  <a:latin typeface="Times New Roman" panose="02020603050405020304" pitchFamily="18" charset="0"/>
                  <a:cs typeface="Times New Roman" panose="02020603050405020304" pitchFamily="18" charset="0"/>
                </a:rPr>
                <a:t>Analysis</a:t>
              </a:r>
            </a:p>
          </p:txBody>
        </p:sp>
        <p:sp>
          <p:nvSpPr>
            <p:cNvPr id="23" name="Speech Bubble: Rectangle 22">
              <a:extLst>
                <a:ext uri="{FF2B5EF4-FFF2-40B4-BE49-F238E27FC236}">
                  <a16:creationId xmlns:a16="http://schemas.microsoft.com/office/drawing/2014/main" id="{434DD908-C1B9-1FB6-1F6C-CD8109B78441}"/>
                </a:ext>
              </a:extLst>
            </p:cNvPr>
            <p:cNvSpPr/>
            <p:nvPr/>
          </p:nvSpPr>
          <p:spPr>
            <a:xfrm>
              <a:off x="2912954" y="2163242"/>
              <a:ext cx="1740250" cy="3590038"/>
            </a:xfrm>
            <a:prstGeom prst="wedgeRectCallout">
              <a:avLst>
                <a:gd name="adj1" fmla="val 53460"/>
                <a:gd name="adj2" fmla="val 22747"/>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marL="2857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Imported dataset into Splunk for centralized monitoring.</a:t>
              </a:r>
            </a:p>
            <a:p>
              <a:pPr marL="2857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Ensured proper parsing and indexing of log files</a:t>
              </a:r>
            </a:p>
            <a:p>
              <a:pPr marL="2857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Prepared raw data for further analysis.</a:t>
              </a:r>
            </a:p>
            <a:p>
              <a:pPr marL="285750" indent="-285750">
                <a:buFont typeface="Arial" panose="020B0604020202020204" pitchFamily="34" charset="0"/>
                <a:buChar char="•"/>
              </a:pPr>
              <a:endParaRPr lang="en-IN" dirty="0">
                <a:solidFill>
                  <a:schemeClr val="tx1"/>
                </a:solidFill>
              </a:endParaRPr>
            </a:p>
          </p:txBody>
        </p:sp>
        <p:sp>
          <p:nvSpPr>
            <p:cNvPr id="24" name="Freeform: Shape 23">
              <a:extLst>
                <a:ext uri="{FF2B5EF4-FFF2-40B4-BE49-F238E27FC236}">
                  <a16:creationId xmlns:a16="http://schemas.microsoft.com/office/drawing/2014/main" id="{40ED259D-D81C-2853-1D6A-70CA0B828A26}"/>
                </a:ext>
              </a:extLst>
            </p:cNvPr>
            <p:cNvSpPr/>
            <p:nvPr/>
          </p:nvSpPr>
          <p:spPr>
            <a:xfrm>
              <a:off x="2912954" y="1472644"/>
              <a:ext cx="1740250" cy="690597"/>
            </a:xfrm>
            <a:custGeom>
              <a:avLst/>
              <a:gdLst>
                <a:gd name="connsiteX0" fmla="*/ 0 w 1740250"/>
                <a:gd name="connsiteY0" fmla="*/ 0 h 690597"/>
                <a:gd name="connsiteX1" fmla="*/ 1740250 w 1740250"/>
                <a:gd name="connsiteY1" fmla="*/ 0 h 690597"/>
                <a:gd name="connsiteX2" fmla="*/ 1740250 w 1740250"/>
                <a:gd name="connsiteY2" fmla="*/ 690597 h 690597"/>
                <a:gd name="connsiteX3" fmla="*/ 0 w 1740250"/>
                <a:gd name="connsiteY3" fmla="*/ 690597 h 690597"/>
                <a:gd name="connsiteX4" fmla="*/ 0 w 1740250"/>
                <a:gd name="connsiteY4" fmla="*/ 0 h 6905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0250" h="690597">
                  <a:moveTo>
                    <a:pt x="0" y="0"/>
                  </a:moveTo>
                  <a:lnTo>
                    <a:pt x="1740250" y="0"/>
                  </a:lnTo>
                  <a:lnTo>
                    <a:pt x="1740250" y="690597"/>
                  </a:lnTo>
                  <a:lnTo>
                    <a:pt x="0" y="690597"/>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7150" tIns="57150" rIns="57150" bIns="57150" numCol="1" spcCol="1270" anchor="ctr" anchorCtr="0">
              <a:noAutofit/>
            </a:bodyPr>
            <a:lstStyle/>
            <a:p>
              <a:pPr marL="0" lvl="0" indent="0" algn="ctr" defTabSz="800100">
                <a:lnSpc>
                  <a:spcPct val="90000"/>
                </a:lnSpc>
                <a:spcBef>
                  <a:spcPct val="0"/>
                </a:spcBef>
                <a:spcAft>
                  <a:spcPct val="35000"/>
                </a:spcAft>
                <a:buNone/>
              </a:pPr>
              <a:r>
                <a:rPr lang="en-IN" sz="1800" kern="1200" dirty="0">
                  <a:solidFill>
                    <a:schemeClr val="tx1"/>
                  </a:solidFill>
                  <a:latin typeface="Times New Roman" panose="02020603050405020304" pitchFamily="18" charset="0"/>
                  <a:cs typeface="Times New Roman" panose="02020603050405020304" pitchFamily="18" charset="0"/>
                </a:rPr>
                <a:t>      Data Ingestion</a:t>
              </a:r>
            </a:p>
          </p:txBody>
        </p:sp>
        <p:sp>
          <p:nvSpPr>
            <p:cNvPr id="25" name="Speech Bubble: Rectangle 24">
              <a:extLst>
                <a:ext uri="{FF2B5EF4-FFF2-40B4-BE49-F238E27FC236}">
                  <a16:creationId xmlns:a16="http://schemas.microsoft.com/office/drawing/2014/main" id="{7EC9951E-55DB-3DA9-856C-C213E8584F59}"/>
                </a:ext>
              </a:extLst>
            </p:cNvPr>
            <p:cNvSpPr/>
            <p:nvPr/>
          </p:nvSpPr>
          <p:spPr>
            <a:xfrm>
              <a:off x="1172703" y="2163242"/>
              <a:ext cx="1740250" cy="3314155"/>
            </a:xfrm>
            <a:prstGeom prst="wedgeRectCallout">
              <a:avLst>
                <a:gd name="adj1" fmla="val 54025"/>
                <a:gd name="adj2" fmla="val 23203"/>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pPr marL="285750" indent="-285750">
                <a:buFont typeface="Arial" panose="020B0604020202020204" pitchFamily="34" charset="0"/>
                <a:buChar char="•"/>
              </a:pPr>
              <a:r>
                <a:rPr lang="en-IN" sz="1600" dirty="0">
                  <a:solidFill>
                    <a:schemeClr val="tx1"/>
                  </a:solidFill>
                  <a:latin typeface="Times New Roman" panose="02020603050405020304" pitchFamily="18" charset="0"/>
                  <a:cs typeface="Times New Roman" panose="02020603050405020304" pitchFamily="18" charset="0"/>
                </a:rPr>
                <a:t>Chosen the BOTSv1 dataset</a:t>
              </a:r>
            </a:p>
            <a:p>
              <a:pPr marL="2857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Dataset contains real-world cyber threat scenarios</a:t>
              </a:r>
            </a:p>
            <a:p>
              <a:pPr marL="2857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Events such as Brute force, insider attack, malware infection etc. </a:t>
              </a:r>
              <a:r>
                <a:rPr lang="en-US" dirty="0">
                  <a:solidFill>
                    <a:schemeClr val="tx1"/>
                  </a:solidFill>
                </a:rPr>
                <a:t> </a:t>
              </a:r>
              <a:endParaRPr lang="en-IN" dirty="0">
                <a:solidFill>
                  <a:schemeClr val="tx1"/>
                </a:solidFill>
              </a:endParaRPr>
            </a:p>
          </p:txBody>
        </p:sp>
        <p:sp>
          <p:nvSpPr>
            <p:cNvPr id="26" name="Freeform: Shape 25">
              <a:extLst>
                <a:ext uri="{FF2B5EF4-FFF2-40B4-BE49-F238E27FC236}">
                  <a16:creationId xmlns:a16="http://schemas.microsoft.com/office/drawing/2014/main" id="{691431EB-33A9-CA41-2CA3-6C27F99A24D3}"/>
                </a:ext>
              </a:extLst>
            </p:cNvPr>
            <p:cNvSpPr/>
            <p:nvPr/>
          </p:nvSpPr>
          <p:spPr>
            <a:xfrm>
              <a:off x="1172703" y="1610882"/>
              <a:ext cx="1740250" cy="552359"/>
            </a:xfrm>
            <a:custGeom>
              <a:avLst/>
              <a:gdLst>
                <a:gd name="connsiteX0" fmla="*/ 0 w 1740250"/>
                <a:gd name="connsiteY0" fmla="*/ 0 h 552359"/>
                <a:gd name="connsiteX1" fmla="*/ 1740250 w 1740250"/>
                <a:gd name="connsiteY1" fmla="*/ 0 h 552359"/>
                <a:gd name="connsiteX2" fmla="*/ 1740250 w 1740250"/>
                <a:gd name="connsiteY2" fmla="*/ 552359 h 552359"/>
                <a:gd name="connsiteX3" fmla="*/ 0 w 1740250"/>
                <a:gd name="connsiteY3" fmla="*/ 552359 h 552359"/>
                <a:gd name="connsiteX4" fmla="*/ 0 w 1740250"/>
                <a:gd name="connsiteY4" fmla="*/ 0 h 5523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0250" h="552359">
                  <a:moveTo>
                    <a:pt x="0" y="0"/>
                  </a:moveTo>
                  <a:lnTo>
                    <a:pt x="1740250" y="0"/>
                  </a:lnTo>
                  <a:lnTo>
                    <a:pt x="1740250" y="552359"/>
                  </a:lnTo>
                  <a:lnTo>
                    <a:pt x="0" y="552359"/>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57150" tIns="57150" rIns="57150" bIns="57150" numCol="1" spcCol="1270" anchor="ctr" anchorCtr="0">
              <a:noAutofit/>
            </a:bodyPr>
            <a:lstStyle/>
            <a:p>
              <a:pPr marL="0" lvl="0" indent="0" algn="ctr" defTabSz="800100">
                <a:lnSpc>
                  <a:spcPct val="90000"/>
                </a:lnSpc>
                <a:spcBef>
                  <a:spcPct val="0"/>
                </a:spcBef>
                <a:spcAft>
                  <a:spcPct val="35000"/>
                </a:spcAft>
                <a:buNone/>
              </a:pPr>
              <a:r>
                <a:rPr lang="en-IN" sz="1800" b="0" kern="1200" dirty="0">
                  <a:solidFill>
                    <a:schemeClr val="tx1"/>
                  </a:solidFill>
                  <a:latin typeface="Times New Roman" panose="02020603050405020304" pitchFamily="18" charset="0"/>
                  <a:cs typeface="Times New Roman" panose="02020603050405020304" pitchFamily="18" charset="0"/>
                </a:rPr>
                <a:t> Dataset Selection</a:t>
              </a:r>
            </a:p>
          </p:txBody>
        </p:sp>
      </p:grpSp>
      <p:pic>
        <p:nvPicPr>
          <p:cNvPr id="11" name="Graphic 10" descr="Document with solid fill">
            <a:extLst>
              <a:ext uri="{FF2B5EF4-FFF2-40B4-BE49-F238E27FC236}">
                <a16:creationId xmlns:a16="http://schemas.microsoft.com/office/drawing/2014/main" id="{E33140E0-F06E-8B27-F303-DEAAB6EC51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21014" y="1667789"/>
            <a:ext cx="395772" cy="429175"/>
          </a:xfrm>
          <a:prstGeom prst="rect">
            <a:avLst/>
          </a:prstGeom>
        </p:spPr>
      </p:pic>
      <p:pic>
        <p:nvPicPr>
          <p:cNvPr id="13" name="Graphic 12" descr="Back with solid fill">
            <a:extLst>
              <a:ext uri="{FF2B5EF4-FFF2-40B4-BE49-F238E27FC236}">
                <a16:creationId xmlns:a16="http://schemas.microsoft.com/office/drawing/2014/main" id="{B312BDB9-26FD-FEAE-691F-FD7991E2AF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0707" y="1390518"/>
            <a:ext cx="648311" cy="648311"/>
          </a:xfrm>
          <a:prstGeom prst="rect">
            <a:avLst/>
          </a:prstGeom>
        </p:spPr>
      </p:pic>
      <p:pic>
        <p:nvPicPr>
          <p:cNvPr id="15" name="Graphic 14" descr="Research with solid fill">
            <a:extLst>
              <a:ext uri="{FF2B5EF4-FFF2-40B4-BE49-F238E27FC236}">
                <a16:creationId xmlns:a16="http://schemas.microsoft.com/office/drawing/2014/main" id="{5EBB0A61-2BA4-CC93-8117-506FC10027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51809" y="1366220"/>
            <a:ext cx="688382" cy="688382"/>
          </a:xfrm>
          <a:prstGeom prst="rect">
            <a:avLst/>
          </a:prstGeom>
        </p:spPr>
      </p:pic>
      <p:pic>
        <p:nvPicPr>
          <p:cNvPr id="17" name="Graphic 16" descr="Checklist with solid fill">
            <a:extLst>
              <a:ext uri="{FF2B5EF4-FFF2-40B4-BE49-F238E27FC236}">
                <a16:creationId xmlns:a16="http://schemas.microsoft.com/office/drawing/2014/main" id="{4D31A872-85FD-583D-907B-3EF918476A0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56198" y="1231392"/>
            <a:ext cx="553853" cy="488845"/>
          </a:xfrm>
          <a:prstGeom prst="rect">
            <a:avLst/>
          </a:prstGeom>
        </p:spPr>
      </p:pic>
      <p:pic>
        <p:nvPicPr>
          <p:cNvPr id="19" name="Graphic 18" descr="Warning with solid fill">
            <a:extLst>
              <a:ext uri="{FF2B5EF4-FFF2-40B4-BE49-F238E27FC236}">
                <a16:creationId xmlns:a16="http://schemas.microsoft.com/office/drawing/2014/main" id="{F7A008D1-502D-DEFD-7ABF-8C5C7ADA7B7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92979" y="1069991"/>
            <a:ext cx="553852" cy="548672"/>
          </a:xfrm>
          <a:prstGeom prst="rect">
            <a:avLst/>
          </a:prstGeom>
        </p:spPr>
      </p:pic>
      <p:pic>
        <p:nvPicPr>
          <p:cNvPr id="21" name="Graphic 20" descr="Paperclip with solid fill">
            <a:extLst>
              <a:ext uri="{FF2B5EF4-FFF2-40B4-BE49-F238E27FC236}">
                <a16:creationId xmlns:a16="http://schemas.microsoft.com/office/drawing/2014/main" id="{EA45CDD1-9140-0EC2-B636-E10187481C6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rot="1209103">
            <a:off x="10029123" y="979680"/>
            <a:ext cx="669511" cy="669511"/>
          </a:xfrm>
          <a:prstGeom prst="rect">
            <a:avLst/>
          </a:prstGeom>
        </p:spPr>
      </p:pic>
    </p:spTree>
    <p:extLst>
      <p:ext uri="{BB962C8B-B14F-4D97-AF65-F5344CB8AC3E}">
        <p14:creationId xmlns:p14="http://schemas.microsoft.com/office/powerpoint/2010/main" val="259566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4C10CC5-8519-B730-8677-7CE2E5FFF386}"/>
              </a:ext>
            </a:extLst>
          </p:cNvPr>
          <p:cNvGrpSpPr/>
          <p:nvPr/>
        </p:nvGrpSpPr>
        <p:grpSpPr>
          <a:xfrm>
            <a:off x="0" y="-73872"/>
            <a:ext cx="4632290" cy="2646878"/>
            <a:chOff x="-12104" y="51561"/>
            <a:chExt cx="4400393" cy="3087852"/>
          </a:xfrm>
        </p:grpSpPr>
        <p:sp>
          <p:nvSpPr>
            <p:cNvPr id="3" name="TextBox 2">
              <a:extLst>
                <a:ext uri="{FF2B5EF4-FFF2-40B4-BE49-F238E27FC236}">
                  <a16:creationId xmlns:a16="http://schemas.microsoft.com/office/drawing/2014/main" id="{896BF2D4-C19A-A4BF-56D9-1F77502EF114}"/>
                </a:ext>
              </a:extLst>
            </p:cNvPr>
            <p:cNvSpPr txBox="1"/>
            <p:nvPr/>
          </p:nvSpPr>
          <p:spPr>
            <a:xfrm>
              <a:off x="-12104" y="51561"/>
              <a:ext cx="1462641" cy="3087852"/>
            </a:xfrm>
            <a:prstGeom prst="rect">
              <a:avLst/>
            </a:prstGeom>
            <a:noFill/>
            <a:ln>
              <a:noFill/>
            </a:ln>
            <a:effectLst>
              <a:outerShdw blurRad="190500" dist="101600" dir="5400000" algn="ctr" rotWithShape="0">
                <a:srgbClr val="000000">
                  <a:alpha val="43137"/>
                </a:srgbClr>
              </a:outerShdw>
            </a:effectLst>
          </p:spPr>
          <p:txBody>
            <a:bodyPr wrap="square" rtlCol="0">
              <a:spAutoFit/>
            </a:bodyPr>
            <a:lstStyle/>
            <a:p>
              <a:r>
                <a:rPr lang="en-US" sz="16600" b="1" dirty="0"/>
                <a:t>5</a:t>
              </a:r>
              <a:endParaRPr lang="en-IN" sz="16600" b="1" dirty="0"/>
            </a:p>
          </p:txBody>
        </p:sp>
        <p:sp>
          <p:nvSpPr>
            <p:cNvPr id="4" name="Isosceles Triangle 3">
              <a:extLst>
                <a:ext uri="{FF2B5EF4-FFF2-40B4-BE49-F238E27FC236}">
                  <a16:creationId xmlns:a16="http://schemas.microsoft.com/office/drawing/2014/main" id="{D63B99BC-D409-CFBA-23A4-B56205C95C28}"/>
                </a:ext>
              </a:extLst>
            </p:cNvPr>
            <p:cNvSpPr/>
            <p:nvPr/>
          </p:nvSpPr>
          <p:spPr>
            <a:xfrm rot="10800000">
              <a:off x="971405" y="1136197"/>
              <a:ext cx="565969" cy="459289"/>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Parallelogram 4">
              <a:extLst>
                <a:ext uri="{FF2B5EF4-FFF2-40B4-BE49-F238E27FC236}">
                  <a16:creationId xmlns:a16="http://schemas.microsoft.com/office/drawing/2014/main" id="{C44256CB-F442-D13E-11C4-949BF89BEE13}"/>
                </a:ext>
              </a:extLst>
            </p:cNvPr>
            <p:cNvSpPr/>
            <p:nvPr/>
          </p:nvSpPr>
          <p:spPr>
            <a:xfrm>
              <a:off x="794750" y="347161"/>
              <a:ext cx="2375721" cy="2656840"/>
            </a:xfrm>
            <a:prstGeom prst="parallelogram">
              <a:avLst>
                <a:gd name="adj" fmla="val 36100"/>
              </a:avLst>
            </a:prstGeom>
            <a:solidFill>
              <a:srgbClr val="FFFFFF"/>
            </a:solidFill>
            <a:ln>
              <a:noFill/>
            </a:ln>
            <a:effectLst>
              <a:outerShdw blurRad="317500" dist="190500" dir="10800000" sx="86000" sy="86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Shape 5">
              <a:extLst>
                <a:ext uri="{FF2B5EF4-FFF2-40B4-BE49-F238E27FC236}">
                  <a16:creationId xmlns:a16="http://schemas.microsoft.com/office/drawing/2014/main" id="{01B7D890-E207-3DDE-309A-F848A54C49B8}"/>
                </a:ext>
              </a:extLst>
            </p:cNvPr>
            <p:cNvSpPr/>
            <p:nvPr/>
          </p:nvSpPr>
          <p:spPr>
            <a:xfrm>
              <a:off x="971405" y="496117"/>
              <a:ext cx="3416884" cy="640080"/>
            </a:xfrm>
            <a:custGeom>
              <a:avLst/>
              <a:gdLst>
                <a:gd name="connsiteX0" fmla="*/ 214894 w 1434934"/>
                <a:gd name="connsiteY0" fmla="*/ 0 h 640080"/>
                <a:gd name="connsiteX1" fmla="*/ 1114894 w 1434934"/>
                <a:gd name="connsiteY1" fmla="*/ 0 h 640080"/>
                <a:gd name="connsiteX2" fmla="*/ 1434934 w 1434934"/>
                <a:gd name="connsiteY2" fmla="*/ 320040 h 640080"/>
                <a:gd name="connsiteX3" fmla="*/ 1114894 w 1434934"/>
                <a:gd name="connsiteY3" fmla="*/ 640080 h 640080"/>
                <a:gd name="connsiteX4" fmla="*/ 0 w 1434934"/>
                <a:gd name="connsiteY4" fmla="*/ 640080 h 640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934" h="640080">
                  <a:moveTo>
                    <a:pt x="214894" y="0"/>
                  </a:moveTo>
                  <a:lnTo>
                    <a:pt x="1114894" y="0"/>
                  </a:lnTo>
                  <a:cubicBezTo>
                    <a:pt x="1291647" y="0"/>
                    <a:pt x="1434934" y="143287"/>
                    <a:pt x="1434934" y="320040"/>
                  </a:cubicBezTo>
                  <a:cubicBezTo>
                    <a:pt x="1434934" y="496793"/>
                    <a:pt x="1291647" y="640080"/>
                    <a:pt x="1114894" y="640080"/>
                  </a:cubicBezTo>
                  <a:lnTo>
                    <a:pt x="0" y="640080"/>
                  </a:lnTo>
                  <a:close/>
                </a:path>
              </a:pathLst>
            </a:custGeom>
            <a:solidFill>
              <a:schemeClr val="accent1"/>
            </a:soli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2800" b="1" dirty="0">
                  <a:latin typeface="Times New Roman" panose="02020603050405020304" pitchFamily="18" charset="0"/>
                  <a:cs typeface="Times New Roman" panose="02020603050405020304" pitchFamily="18" charset="0"/>
                </a:rPr>
                <a:t>Dataset </a:t>
              </a:r>
              <a:r>
                <a:rPr lang="en-US" sz="2800" dirty="0">
                  <a:latin typeface="Times New Roman" panose="02020603050405020304" pitchFamily="18" charset="0"/>
                  <a:cs typeface="Times New Roman" panose="02020603050405020304" pitchFamily="18" charset="0"/>
                </a:rPr>
                <a:t>&amp; </a:t>
              </a:r>
              <a:r>
                <a:rPr lang="en-US" sz="2800" b="1" dirty="0">
                  <a:latin typeface="Times New Roman" panose="02020603050405020304" pitchFamily="18" charset="0"/>
                  <a:cs typeface="Times New Roman" panose="02020603050405020304" pitchFamily="18" charset="0"/>
                </a:rPr>
                <a:t>Splunk</a:t>
              </a:r>
            </a:p>
          </p:txBody>
        </p:sp>
      </p:grpSp>
      <p:pic>
        <p:nvPicPr>
          <p:cNvPr id="9" name="Picture 8">
            <a:extLst>
              <a:ext uri="{FF2B5EF4-FFF2-40B4-BE49-F238E27FC236}">
                <a16:creationId xmlns:a16="http://schemas.microsoft.com/office/drawing/2014/main" id="{93CE0F85-86B7-0566-7E7E-3453715C4C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4823" y="-54851"/>
            <a:ext cx="1540706" cy="2104715"/>
          </a:xfrm>
          <a:prstGeom prst="rect">
            <a:avLst/>
          </a:prstGeom>
        </p:spPr>
      </p:pic>
      <p:sp>
        <p:nvSpPr>
          <p:cNvPr id="11" name="TextBox 10">
            <a:extLst>
              <a:ext uri="{FF2B5EF4-FFF2-40B4-BE49-F238E27FC236}">
                <a16:creationId xmlns:a16="http://schemas.microsoft.com/office/drawing/2014/main" id="{C8FAF05A-D149-525C-EBCD-35A41D5E715B}"/>
              </a:ext>
            </a:extLst>
          </p:cNvPr>
          <p:cNvSpPr txBox="1"/>
          <p:nvPr/>
        </p:nvSpPr>
        <p:spPr>
          <a:xfrm>
            <a:off x="1215852" y="911013"/>
            <a:ext cx="4763894" cy="5816977"/>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BOTSv1</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open-source dataset for cybersecurity research and training</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Includes </a:t>
            </a:r>
            <a:r>
              <a:rPr lang="en-US" sz="2000" b="1" dirty="0">
                <a:latin typeface="Times New Roman" panose="02020603050405020304" pitchFamily="18" charset="0"/>
                <a:cs typeface="Times New Roman" panose="02020603050405020304" pitchFamily="18" charset="0"/>
              </a:rPr>
              <a:t>Windows Event Logs, Sysmon, DNS, Proxy, and Firewall logs</a:t>
            </a:r>
            <a:r>
              <a:rPr lang="en-US" sz="2000" dirty="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Designed for </a:t>
            </a:r>
            <a:r>
              <a:rPr lang="en-US" sz="2000" b="1" dirty="0">
                <a:latin typeface="Times New Roman" panose="02020603050405020304" pitchFamily="18" charset="0"/>
                <a:cs typeface="Times New Roman" panose="02020603050405020304" pitchFamily="18" charset="0"/>
              </a:rPr>
              <a:t>SOC training, threat hunting, and SIEM testing</a:t>
            </a:r>
            <a:r>
              <a:rPr lang="en-US" sz="2000" dirty="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Contains </a:t>
            </a:r>
            <a:r>
              <a:rPr lang="en-US" sz="2000" b="1" dirty="0">
                <a:latin typeface="Times New Roman" panose="02020603050405020304" pitchFamily="18" charset="0"/>
                <a:cs typeface="Times New Roman" panose="02020603050405020304" pitchFamily="18" charset="0"/>
              </a:rPr>
              <a:t>labeled attack scenarios</a:t>
            </a:r>
            <a:r>
              <a:rPr lang="en-US" sz="2000" dirty="0">
                <a:latin typeface="Times New Roman" panose="02020603050405020304" pitchFamily="18" charset="0"/>
                <a:cs typeface="Times New Roman" panose="02020603050405020304" pitchFamily="18" charset="0"/>
              </a:rPr>
              <a:t> for easier analysis.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Provides a </a:t>
            </a:r>
            <a:r>
              <a:rPr lang="en-US" sz="2000" b="1" dirty="0">
                <a:latin typeface="Times New Roman" panose="02020603050405020304" pitchFamily="18" charset="0"/>
                <a:cs typeface="Times New Roman" panose="02020603050405020304" pitchFamily="18" charset="0"/>
              </a:rPr>
              <a:t>realistic environment</a:t>
            </a:r>
            <a:r>
              <a:rPr lang="en-US" sz="2000" dirty="0">
                <a:latin typeface="Times New Roman" panose="02020603050405020304" pitchFamily="18" charset="0"/>
                <a:cs typeface="Times New Roman" panose="02020603050405020304" pitchFamily="18" charset="0"/>
              </a:rPr>
              <a:t> to practice detection and investigation.</a:t>
            </a:r>
          </a:p>
          <a:p>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EACCD2F-1622-DB11-537C-27AD6A4AF2FB}"/>
              </a:ext>
            </a:extLst>
          </p:cNvPr>
          <p:cNvSpPr txBox="1"/>
          <p:nvPr/>
        </p:nvSpPr>
        <p:spPr>
          <a:xfrm>
            <a:off x="5888333" y="689315"/>
            <a:ext cx="5663587" cy="622888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Splunk</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Powerful </a:t>
            </a:r>
            <a:r>
              <a:rPr lang="en-US" b="1" dirty="0">
                <a:latin typeface="Times New Roman" panose="02020603050405020304" pitchFamily="18" charset="0"/>
                <a:cs typeface="Times New Roman" panose="02020603050405020304" pitchFamily="18" charset="0"/>
              </a:rPr>
              <a:t>SIEM platform</a:t>
            </a:r>
            <a:r>
              <a:rPr lang="en-US" dirty="0">
                <a:latin typeface="Times New Roman" panose="02020603050405020304" pitchFamily="18" charset="0"/>
                <a:cs typeface="Times New Roman" panose="02020603050405020304" pitchFamily="18" charset="0"/>
              </a:rPr>
              <a:t> used to ingest and </a:t>
            </a:r>
          </a:p>
          <a:p>
            <a:pPr>
              <a:lnSpc>
                <a:spcPct val="150000"/>
              </a:lnSpc>
            </a:pPr>
            <a:r>
              <a:rPr lang="en-US" dirty="0">
                <a:latin typeface="Times New Roman" panose="02020603050405020304" pitchFamily="18" charset="0"/>
                <a:cs typeface="Times New Roman" panose="02020603050405020304" pitchFamily="18" charset="0"/>
              </a:rPr>
              <a:t>	analyze BOTSv1 logs.</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t>
            </a:r>
            <a:r>
              <a:rPr lang="en-US" b="1" dirty="0">
                <a:latin typeface="Times New Roman" panose="02020603050405020304" pitchFamily="18" charset="0"/>
                <a:cs typeface="Times New Roman" panose="02020603050405020304" pitchFamily="18" charset="0"/>
              </a:rPr>
              <a:t>event correlation, dashboards, and interactive visualizations</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Generates </a:t>
            </a:r>
            <a:r>
              <a:rPr lang="en-US" b="1" dirty="0">
                <a:latin typeface="Times New Roman" panose="02020603050405020304" pitchFamily="18" charset="0"/>
                <a:cs typeface="Times New Roman" panose="02020603050405020304" pitchFamily="18" charset="0"/>
              </a:rPr>
              <a:t>real-time alerts</a:t>
            </a:r>
            <a:r>
              <a:rPr lang="en-US" dirty="0">
                <a:latin typeface="Times New Roman" panose="02020603050405020304" pitchFamily="18" charset="0"/>
                <a:cs typeface="Times New Roman" panose="02020603050405020304" pitchFamily="18" charset="0"/>
              </a:rPr>
              <a:t> to identify potential security incidents.</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Enables </a:t>
            </a:r>
            <a:r>
              <a:rPr lang="en-US" b="1" dirty="0">
                <a:latin typeface="Times New Roman" panose="02020603050405020304" pitchFamily="18" charset="0"/>
                <a:cs typeface="Times New Roman" panose="02020603050405020304" pitchFamily="18" charset="0"/>
              </a:rPr>
              <a:t>investigation and reconstruction of attack timelines</a:t>
            </a:r>
            <a:r>
              <a:rPr lang="en-US" dirty="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a:t>
            </a:r>
            <a:r>
              <a:rPr lang="en-US" b="1" dirty="0">
                <a:latin typeface="Times New Roman" panose="02020603050405020304" pitchFamily="18" charset="0"/>
                <a:cs typeface="Times New Roman" panose="02020603050405020304" pitchFamily="18" charset="0"/>
              </a:rPr>
              <a:t>development of detection rules and incident response workflows</a:t>
            </a:r>
            <a:r>
              <a:rPr lang="en-US" dirty="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Widely used in industry for </a:t>
            </a:r>
            <a:r>
              <a:rPr lang="en-US" b="1" dirty="0">
                <a:latin typeface="Times New Roman" panose="02020603050405020304" pitchFamily="18" charset="0"/>
                <a:cs typeface="Times New Roman" panose="02020603050405020304" pitchFamily="18" charset="0"/>
              </a:rPr>
              <a:t>SOC operations, threat hunting, and cybersecurity research</a:t>
            </a:r>
            <a:r>
              <a:rPr lang="en-US" dirty="0">
                <a:latin typeface="Times New Roman" panose="02020603050405020304" pitchFamily="18" charset="0"/>
                <a:cs typeface="Times New Roman" panose="02020603050405020304" pitchFamily="18" charset="0"/>
              </a:rPr>
              <a:t>.</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 </a:t>
            </a:r>
            <a:r>
              <a:rPr lang="en-US" b="1" dirty="0">
                <a:latin typeface="Times New Roman" panose="02020603050405020304" pitchFamily="18" charset="0"/>
                <a:cs typeface="Times New Roman" panose="02020603050405020304" pitchFamily="18" charset="0"/>
              </a:rPr>
              <a:t>hands-on interface</a:t>
            </a:r>
            <a:r>
              <a:rPr lang="en-US" dirty="0">
                <a:latin typeface="Times New Roman" panose="02020603050405020304" pitchFamily="18" charset="0"/>
                <a:cs typeface="Times New Roman" panose="02020603050405020304" pitchFamily="18" charset="0"/>
              </a:rPr>
              <a:t> for SOC analysts and researchers.</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3439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3528AFC-D623-973A-E6D9-8D4EAD3597C8}"/>
              </a:ext>
            </a:extLst>
          </p:cNvPr>
          <p:cNvGrpSpPr/>
          <p:nvPr/>
        </p:nvGrpSpPr>
        <p:grpSpPr>
          <a:xfrm>
            <a:off x="0" y="-120526"/>
            <a:ext cx="5666111" cy="2646878"/>
            <a:chOff x="-12104" y="51561"/>
            <a:chExt cx="5382460" cy="3087852"/>
          </a:xfrm>
        </p:grpSpPr>
        <p:sp>
          <p:nvSpPr>
            <p:cNvPr id="3" name="TextBox 2">
              <a:extLst>
                <a:ext uri="{FF2B5EF4-FFF2-40B4-BE49-F238E27FC236}">
                  <a16:creationId xmlns:a16="http://schemas.microsoft.com/office/drawing/2014/main" id="{733189A0-1338-F616-DCBF-581C25140AA5}"/>
                </a:ext>
              </a:extLst>
            </p:cNvPr>
            <p:cNvSpPr txBox="1"/>
            <p:nvPr/>
          </p:nvSpPr>
          <p:spPr>
            <a:xfrm>
              <a:off x="-12104" y="51561"/>
              <a:ext cx="1462641" cy="3087852"/>
            </a:xfrm>
            <a:prstGeom prst="rect">
              <a:avLst/>
            </a:prstGeom>
            <a:noFill/>
            <a:ln>
              <a:noFill/>
            </a:ln>
            <a:effectLst>
              <a:outerShdw blurRad="190500" dist="101600" dir="5400000" algn="ctr" rotWithShape="0">
                <a:srgbClr val="000000">
                  <a:alpha val="43137"/>
                </a:srgbClr>
              </a:outerShdw>
            </a:effectLst>
          </p:spPr>
          <p:txBody>
            <a:bodyPr wrap="square" rtlCol="0">
              <a:spAutoFit/>
            </a:bodyPr>
            <a:lstStyle/>
            <a:p>
              <a:r>
                <a:rPr lang="en-US" sz="16600" b="1" dirty="0"/>
                <a:t>6</a:t>
              </a:r>
              <a:endParaRPr lang="en-IN" sz="16600" b="1" dirty="0"/>
            </a:p>
          </p:txBody>
        </p:sp>
        <p:sp>
          <p:nvSpPr>
            <p:cNvPr id="4" name="Isosceles Triangle 3">
              <a:extLst>
                <a:ext uri="{FF2B5EF4-FFF2-40B4-BE49-F238E27FC236}">
                  <a16:creationId xmlns:a16="http://schemas.microsoft.com/office/drawing/2014/main" id="{6C69CB86-F70C-3ED3-6188-4C624C2D235D}"/>
                </a:ext>
              </a:extLst>
            </p:cNvPr>
            <p:cNvSpPr/>
            <p:nvPr/>
          </p:nvSpPr>
          <p:spPr>
            <a:xfrm rot="10800000">
              <a:off x="971405" y="1136197"/>
              <a:ext cx="565969" cy="459289"/>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Parallelogram 4">
              <a:extLst>
                <a:ext uri="{FF2B5EF4-FFF2-40B4-BE49-F238E27FC236}">
                  <a16:creationId xmlns:a16="http://schemas.microsoft.com/office/drawing/2014/main" id="{A600DD6C-E741-1508-8CAC-CBE6D9AEC4B9}"/>
                </a:ext>
              </a:extLst>
            </p:cNvPr>
            <p:cNvSpPr/>
            <p:nvPr/>
          </p:nvSpPr>
          <p:spPr>
            <a:xfrm>
              <a:off x="794750" y="347161"/>
              <a:ext cx="2375721" cy="2656840"/>
            </a:xfrm>
            <a:prstGeom prst="parallelogram">
              <a:avLst>
                <a:gd name="adj" fmla="val 36100"/>
              </a:avLst>
            </a:prstGeom>
            <a:solidFill>
              <a:srgbClr val="FFFFFF"/>
            </a:solidFill>
            <a:ln>
              <a:noFill/>
            </a:ln>
            <a:effectLst>
              <a:outerShdw blurRad="317500" dist="190500" dir="10800000" sx="86000" sy="86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Shape 5">
              <a:extLst>
                <a:ext uri="{FF2B5EF4-FFF2-40B4-BE49-F238E27FC236}">
                  <a16:creationId xmlns:a16="http://schemas.microsoft.com/office/drawing/2014/main" id="{90A0838F-B2F4-1FBA-5EEA-CE7335F188BC}"/>
                </a:ext>
              </a:extLst>
            </p:cNvPr>
            <p:cNvSpPr/>
            <p:nvPr/>
          </p:nvSpPr>
          <p:spPr>
            <a:xfrm>
              <a:off x="970587" y="496117"/>
              <a:ext cx="4399769" cy="640080"/>
            </a:xfrm>
            <a:custGeom>
              <a:avLst/>
              <a:gdLst>
                <a:gd name="connsiteX0" fmla="*/ 214894 w 1434934"/>
                <a:gd name="connsiteY0" fmla="*/ 0 h 640080"/>
                <a:gd name="connsiteX1" fmla="*/ 1114894 w 1434934"/>
                <a:gd name="connsiteY1" fmla="*/ 0 h 640080"/>
                <a:gd name="connsiteX2" fmla="*/ 1434934 w 1434934"/>
                <a:gd name="connsiteY2" fmla="*/ 320040 h 640080"/>
                <a:gd name="connsiteX3" fmla="*/ 1114894 w 1434934"/>
                <a:gd name="connsiteY3" fmla="*/ 640080 h 640080"/>
                <a:gd name="connsiteX4" fmla="*/ 0 w 1434934"/>
                <a:gd name="connsiteY4" fmla="*/ 640080 h 640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934" h="640080">
                  <a:moveTo>
                    <a:pt x="214894" y="0"/>
                  </a:moveTo>
                  <a:lnTo>
                    <a:pt x="1114894" y="0"/>
                  </a:lnTo>
                  <a:cubicBezTo>
                    <a:pt x="1291647" y="0"/>
                    <a:pt x="1434934" y="143287"/>
                    <a:pt x="1434934" y="320040"/>
                  </a:cubicBezTo>
                  <a:cubicBezTo>
                    <a:pt x="1434934" y="496793"/>
                    <a:pt x="1291647" y="640080"/>
                    <a:pt x="1114894" y="640080"/>
                  </a:cubicBezTo>
                  <a:lnTo>
                    <a:pt x="0" y="640080"/>
                  </a:lnTo>
                  <a:close/>
                </a:path>
              </a:pathLst>
            </a:custGeom>
            <a:solidFill>
              <a:schemeClr val="accent1"/>
            </a:soli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2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Event Correlation &amp; Threat Detection</a:t>
              </a:r>
            </a:p>
          </p:txBody>
        </p:sp>
      </p:grpSp>
      <p:sp>
        <p:nvSpPr>
          <p:cNvPr id="7" name="TextBox 6">
            <a:extLst>
              <a:ext uri="{FF2B5EF4-FFF2-40B4-BE49-F238E27FC236}">
                <a16:creationId xmlns:a16="http://schemas.microsoft.com/office/drawing/2014/main" id="{5DDC4FCF-DC94-574D-2C99-BDACCFDF39A2}"/>
              </a:ext>
            </a:extLst>
          </p:cNvPr>
          <p:cNvSpPr txBox="1"/>
          <p:nvPr/>
        </p:nvSpPr>
        <p:spPr>
          <a:xfrm>
            <a:off x="1272209" y="1351722"/>
            <a:ext cx="4631633" cy="4755148"/>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Event Correlation</a:t>
            </a:r>
          </a:p>
          <a:p>
            <a:pPr algn="just"/>
            <a:endParaRPr lang="en-IN"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Combines and analyzes events from </a:t>
            </a:r>
            <a:r>
              <a:rPr lang="en-US" b="1" dirty="0">
                <a:latin typeface="Times New Roman" panose="02020603050405020304" pitchFamily="18" charset="0"/>
                <a:cs typeface="Times New Roman" panose="02020603050405020304" pitchFamily="18" charset="0"/>
              </a:rPr>
              <a:t>different log sources </a:t>
            </a:r>
            <a:r>
              <a:rPr lang="en-US" dirty="0">
                <a:latin typeface="Times New Roman" panose="02020603050405020304" pitchFamily="18" charset="0"/>
                <a:cs typeface="Times New Roman" panose="02020603050405020304" pitchFamily="18" charset="0"/>
              </a:rPr>
              <a:t>from different systems </a:t>
            </a:r>
          </a:p>
          <a:p>
            <a:pPr algn="just">
              <a:lnSpc>
                <a:spcPct val="150000"/>
              </a:lnSpc>
            </a:pPr>
            <a:r>
              <a:rPr lang="en-US" dirty="0">
                <a:latin typeface="Times New Roman" panose="02020603050405020304" pitchFamily="18" charset="0"/>
                <a:cs typeface="Times New Roman" panose="02020603050405020304" pitchFamily="18" charset="0"/>
              </a:rPr>
              <a:t>     Ex :(Windows, Firewall, DNS, etc.)</a:t>
            </a:r>
            <a:endParaRPr lang="en-US" b="1"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find suspicious patterns in large amounts of data.</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Acts as a bridge between </a:t>
            </a:r>
            <a:r>
              <a:rPr lang="en-US" b="1" dirty="0">
                <a:latin typeface="Times New Roman" panose="02020603050405020304" pitchFamily="18" charset="0"/>
                <a:cs typeface="Times New Roman" panose="02020603050405020304" pitchFamily="18" charset="0"/>
              </a:rPr>
              <a:t>raw log data and actionable security intelligence</a:t>
            </a:r>
            <a:r>
              <a:rPr lang="en-US"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Reduces false alerts and focuses on real threats</a:t>
            </a:r>
          </a:p>
          <a:p>
            <a:pPr marL="285750" indent="-285750"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A35FFAC-343B-3B62-7899-17185A5926AA}"/>
              </a:ext>
            </a:extLst>
          </p:cNvPr>
          <p:cNvSpPr txBox="1"/>
          <p:nvPr/>
        </p:nvSpPr>
        <p:spPr>
          <a:xfrm>
            <a:off x="6096000" y="1361661"/>
            <a:ext cx="4840357" cy="4755148"/>
          </a:xfrm>
          <a:prstGeom prst="rect">
            <a:avLst/>
          </a:prstGeom>
          <a:noFill/>
        </p:spPr>
        <p:txBody>
          <a:bodyPr wrap="square" rtlCol="0">
            <a:spAutoFit/>
          </a:bodyPr>
          <a:lstStyle/>
          <a:p>
            <a:pPr algn="ctr"/>
            <a:r>
              <a:rPr lang="en-IN" sz="2400" b="1" dirty="0">
                <a:latin typeface="Times New Roman" panose="02020603050405020304" pitchFamily="18" charset="0"/>
                <a:cs typeface="Times New Roman" panose="02020603050405020304" pitchFamily="18" charset="0"/>
              </a:rPr>
              <a:t>Threat Detection</a:t>
            </a:r>
          </a:p>
          <a:p>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find known attack methods and unusual activities.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Detects suspicious user or system behavior.</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Matches events to attack techniques </a:t>
            </a:r>
          </a:p>
          <a:p>
            <a:pPr>
              <a:lnSpc>
                <a:spcPct val="150000"/>
              </a:lnSpc>
            </a:pPr>
            <a:r>
              <a:rPr lang="en-US" dirty="0">
                <a:latin typeface="Times New Roman" panose="02020603050405020304" pitchFamily="18" charset="0"/>
                <a:cs typeface="Times New Roman" panose="02020603050405020304" pitchFamily="18" charset="0"/>
              </a:rPr>
              <a:t>     (MITRE ATT&amp;CK)</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quick alerts and faster incident response.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Triggers alerts for SOC teams to act quickly</a:t>
            </a:r>
          </a:p>
          <a:p>
            <a:pPr>
              <a:lnSpc>
                <a:spcPct val="150000"/>
              </a:lnSpc>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79182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E45704D-FB5E-1DE9-BA68-DD229E2D85EF}"/>
              </a:ext>
            </a:extLst>
          </p:cNvPr>
          <p:cNvGrpSpPr/>
          <p:nvPr/>
        </p:nvGrpSpPr>
        <p:grpSpPr>
          <a:xfrm>
            <a:off x="0" y="-64593"/>
            <a:ext cx="4478694" cy="2646878"/>
            <a:chOff x="-12104" y="51561"/>
            <a:chExt cx="4254486" cy="3087852"/>
          </a:xfrm>
        </p:grpSpPr>
        <p:sp>
          <p:nvSpPr>
            <p:cNvPr id="3" name="TextBox 2">
              <a:extLst>
                <a:ext uri="{FF2B5EF4-FFF2-40B4-BE49-F238E27FC236}">
                  <a16:creationId xmlns:a16="http://schemas.microsoft.com/office/drawing/2014/main" id="{0BCF1356-DCC7-B8EE-52BE-6CC071D2C730}"/>
                </a:ext>
              </a:extLst>
            </p:cNvPr>
            <p:cNvSpPr txBox="1"/>
            <p:nvPr/>
          </p:nvSpPr>
          <p:spPr>
            <a:xfrm>
              <a:off x="-12104" y="51561"/>
              <a:ext cx="1462641" cy="3087852"/>
            </a:xfrm>
            <a:prstGeom prst="rect">
              <a:avLst/>
            </a:prstGeom>
            <a:noFill/>
            <a:ln>
              <a:noFill/>
            </a:ln>
            <a:effectLst>
              <a:outerShdw blurRad="190500" dist="101600" dir="5400000" algn="ctr" rotWithShape="0">
                <a:srgbClr val="000000">
                  <a:alpha val="43137"/>
                </a:srgbClr>
              </a:outerShdw>
            </a:effectLst>
          </p:spPr>
          <p:txBody>
            <a:bodyPr wrap="square" rtlCol="0">
              <a:spAutoFit/>
            </a:bodyPr>
            <a:lstStyle/>
            <a:p>
              <a:r>
                <a:rPr lang="en-US" sz="16600" b="1" dirty="0"/>
                <a:t>7</a:t>
              </a:r>
              <a:endParaRPr lang="en-IN" sz="16600" b="1" dirty="0"/>
            </a:p>
          </p:txBody>
        </p:sp>
        <p:sp>
          <p:nvSpPr>
            <p:cNvPr id="4" name="Isosceles Triangle 3">
              <a:extLst>
                <a:ext uri="{FF2B5EF4-FFF2-40B4-BE49-F238E27FC236}">
                  <a16:creationId xmlns:a16="http://schemas.microsoft.com/office/drawing/2014/main" id="{731B1E74-2F46-784C-16A5-8C86E81B8230}"/>
                </a:ext>
              </a:extLst>
            </p:cNvPr>
            <p:cNvSpPr/>
            <p:nvPr/>
          </p:nvSpPr>
          <p:spPr>
            <a:xfrm rot="10800000">
              <a:off x="971405" y="1136197"/>
              <a:ext cx="565969" cy="459289"/>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Parallelogram 4">
              <a:extLst>
                <a:ext uri="{FF2B5EF4-FFF2-40B4-BE49-F238E27FC236}">
                  <a16:creationId xmlns:a16="http://schemas.microsoft.com/office/drawing/2014/main" id="{B7BFB363-3951-FDC3-A4FA-C5793BB2C6B1}"/>
                </a:ext>
              </a:extLst>
            </p:cNvPr>
            <p:cNvSpPr/>
            <p:nvPr/>
          </p:nvSpPr>
          <p:spPr>
            <a:xfrm>
              <a:off x="794750" y="347161"/>
              <a:ext cx="2375721" cy="2656840"/>
            </a:xfrm>
            <a:prstGeom prst="parallelogram">
              <a:avLst>
                <a:gd name="adj" fmla="val 36100"/>
              </a:avLst>
            </a:prstGeom>
            <a:solidFill>
              <a:srgbClr val="FFFFFF"/>
            </a:solidFill>
            <a:ln>
              <a:noFill/>
            </a:ln>
            <a:effectLst>
              <a:outerShdw blurRad="317500" dist="190500" dir="10800000" sx="86000" sy="86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Shape 5">
              <a:extLst>
                <a:ext uri="{FF2B5EF4-FFF2-40B4-BE49-F238E27FC236}">
                  <a16:creationId xmlns:a16="http://schemas.microsoft.com/office/drawing/2014/main" id="{2C038A15-A31E-8A1D-ECD3-E2EBC34C6223}"/>
                </a:ext>
              </a:extLst>
            </p:cNvPr>
            <p:cNvSpPr/>
            <p:nvPr/>
          </p:nvSpPr>
          <p:spPr>
            <a:xfrm>
              <a:off x="971405" y="496117"/>
              <a:ext cx="3270977" cy="640080"/>
            </a:xfrm>
            <a:custGeom>
              <a:avLst/>
              <a:gdLst>
                <a:gd name="connsiteX0" fmla="*/ 214894 w 1434934"/>
                <a:gd name="connsiteY0" fmla="*/ 0 h 640080"/>
                <a:gd name="connsiteX1" fmla="*/ 1114894 w 1434934"/>
                <a:gd name="connsiteY1" fmla="*/ 0 h 640080"/>
                <a:gd name="connsiteX2" fmla="*/ 1434934 w 1434934"/>
                <a:gd name="connsiteY2" fmla="*/ 320040 h 640080"/>
                <a:gd name="connsiteX3" fmla="*/ 1114894 w 1434934"/>
                <a:gd name="connsiteY3" fmla="*/ 640080 h 640080"/>
                <a:gd name="connsiteX4" fmla="*/ 0 w 1434934"/>
                <a:gd name="connsiteY4" fmla="*/ 640080 h 640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934" h="640080">
                  <a:moveTo>
                    <a:pt x="214894" y="0"/>
                  </a:moveTo>
                  <a:lnTo>
                    <a:pt x="1114894" y="0"/>
                  </a:lnTo>
                  <a:cubicBezTo>
                    <a:pt x="1291647" y="0"/>
                    <a:pt x="1434934" y="143287"/>
                    <a:pt x="1434934" y="320040"/>
                  </a:cubicBezTo>
                  <a:cubicBezTo>
                    <a:pt x="1434934" y="496793"/>
                    <a:pt x="1291647" y="640080"/>
                    <a:pt x="1114894" y="640080"/>
                  </a:cubicBezTo>
                  <a:lnTo>
                    <a:pt x="0" y="640080"/>
                  </a:lnTo>
                  <a:close/>
                </a:path>
              </a:pathLst>
            </a:custGeom>
            <a:solidFill>
              <a:schemeClr val="accent1"/>
            </a:soli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sz="2200" b="1" dirty="0">
                  <a:latin typeface="Times New Roman" panose="02020603050405020304" pitchFamily="18" charset="0"/>
                  <a:cs typeface="Times New Roman" panose="02020603050405020304" pitchFamily="18" charset="0"/>
                </a:rPr>
                <a:t>Visualizations &amp; Alerts </a:t>
              </a:r>
            </a:p>
          </p:txBody>
        </p:sp>
      </p:grpSp>
      <p:sp>
        <p:nvSpPr>
          <p:cNvPr id="7" name="TextBox 6">
            <a:extLst>
              <a:ext uri="{FF2B5EF4-FFF2-40B4-BE49-F238E27FC236}">
                <a16:creationId xmlns:a16="http://schemas.microsoft.com/office/drawing/2014/main" id="{75CE6F86-B372-EE0C-F1E1-D302A3C5F75E}"/>
              </a:ext>
            </a:extLst>
          </p:cNvPr>
          <p:cNvSpPr txBox="1"/>
          <p:nvPr/>
        </p:nvSpPr>
        <p:spPr>
          <a:xfrm>
            <a:off x="1539721" y="1028700"/>
            <a:ext cx="9495424" cy="58584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Displayed </a:t>
            </a:r>
            <a:r>
              <a:rPr lang="en-US" b="1" dirty="0">
                <a:latin typeface="Times New Roman" panose="02020603050405020304" pitchFamily="18" charset="0"/>
                <a:cs typeface="Times New Roman" panose="02020603050405020304" pitchFamily="18" charset="0"/>
              </a:rPr>
              <a:t>Windows Event Logs, Sysmon, DNS, Proxy, and Firewall data</a:t>
            </a:r>
            <a:r>
              <a:rPr lang="en-US" dirty="0">
                <a:latin typeface="Times New Roman" panose="02020603050405020304" pitchFamily="18" charset="0"/>
                <a:cs typeface="Times New Roman" panose="02020603050405020304" pitchFamily="18" charset="0"/>
              </a:rPr>
              <a:t> in graphical form.</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Created timelines to track attacker movement across different stages of the attack.</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Visualized </a:t>
            </a:r>
            <a:r>
              <a:rPr lang="en-US" b="1" dirty="0">
                <a:latin typeface="Times New Roman" panose="02020603050405020304" pitchFamily="18" charset="0"/>
                <a:cs typeface="Times New Roman" panose="02020603050405020304" pitchFamily="18" charset="0"/>
              </a:rPr>
              <a:t>failed vs successful logins</a:t>
            </a:r>
            <a:r>
              <a:rPr lang="en-US" dirty="0">
                <a:latin typeface="Times New Roman" panose="02020603050405020304" pitchFamily="18" charset="0"/>
                <a:cs typeface="Times New Roman" panose="02020603050405020304" pitchFamily="18" charset="0"/>
              </a:rPr>
              <a:t> to detect brute-force activity.</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Mapped </a:t>
            </a:r>
            <a:r>
              <a:rPr lang="en-US" b="1" dirty="0">
                <a:latin typeface="Times New Roman" panose="02020603050405020304" pitchFamily="18" charset="0"/>
                <a:cs typeface="Times New Roman" panose="02020603050405020304" pitchFamily="18" charset="0"/>
              </a:rPr>
              <a:t>suspicious IPs and domains on geo-location charts.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Enabled </a:t>
            </a:r>
            <a:r>
              <a:rPr lang="en-US" b="1" dirty="0">
                <a:latin typeface="Times New Roman" panose="02020603050405020304" pitchFamily="18" charset="0"/>
                <a:cs typeface="Times New Roman" panose="02020603050405020304" pitchFamily="18" charset="0"/>
              </a:rPr>
              <a:t>real-time dashboards</a:t>
            </a:r>
            <a:r>
              <a:rPr lang="en-US" dirty="0">
                <a:latin typeface="Times New Roman" panose="02020603050405020304" pitchFamily="18" charset="0"/>
                <a:cs typeface="Times New Roman" panose="02020603050405020304" pitchFamily="18" charset="0"/>
              </a:rPr>
              <a:t> for threat detection and incident response simulation.</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How Alerts Help</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Enables proactive threat detection before damage occurs.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analysts prioritize critical incidents efficiently.</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Enhances situational awareness of enterprise systems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Supports incident response and forensic investigation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Categorized into </a:t>
            </a:r>
            <a:r>
              <a:rPr lang="en-US" b="1" dirty="0">
                <a:latin typeface="Times New Roman" panose="02020603050405020304" pitchFamily="18" charset="0"/>
                <a:cs typeface="Times New Roman" panose="02020603050405020304" pitchFamily="18" charset="0"/>
              </a:rPr>
              <a:t>High, Medium, Low severity</a:t>
            </a:r>
            <a:r>
              <a:rPr lang="en-US" dirty="0">
                <a:latin typeface="Times New Roman" panose="02020603050405020304" pitchFamily="18" charset="0"/>
                <a:cs typeface="Times New Roman" panose="02020603050405020304" pitchFamily="18" charset="0"/>
              </a:rPr>
              <a:t>.</a:t>
            </a:r>
          </a:p>
          <a:p>
            <a:pPr marL="285750" indent="-285750">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nSpc>
                <a:spcPct val="150000"/>
              </a:lnSpc>
            </a:pPr>
            <a:endParaRPr lang="en-IN" dirty="0"/>
          </a:p>
        </p:txBody>
      </p:sp>
    </p:spTree>
    <p:extLst>
      <p:ext uri="{BB962C8B-B14F-4D97-AF65-F5344CB8AC3E}">
        <p14:creationId xmlns:p14="http://schemas.microsoft.com/office/powerpoint/2010/main" val="862996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7910FAD-7D43-69C8-BDC5-D12602D16D8E}"/>
              </a:ext>
            </a:extLst>
          </p:cNvPr>
          <p:cNvGrpSpPr/>
          <p:nvPr/>
        </p:nvGrpSpPr>
        <p:grpSpPr>
          <a:xfrm>
            <a:off x="0" y="-73873"/>
            <a:ext cx="3350295" cy="2646878"/>
            <a:chOff x="-12104" y="51561"/>
            <a:chExt cx="3182575" cy="3087852"/>
          </a:xfrm>
        </p:grpSpPr>
        <p:sp>
          <p:nvSpPr>
            <p:cNvPr id="3" name="TextBox 2">
              <a:extLst>
                <a:ext uri="{FF2B5EF4-FFF2-40B4-BE49-F238E27FC236}">
                  <a16:creationId xmlns:a16="http://schemas.microsoft.com/office/drawing/2014/main" id="{48894CA2-5B2A-0953-881B-27FF8AD58C18}"/>
                </a:ext>
              </a:extLst>
            </p:cNvPr>
            <p:cNvSpPr txBox="1"/>
            <p:nvPr/>
          </p:nvSpPr>
          <p:spPr>
            <a:xfrm>
              <a:off x="-12104" y="51561"/>
              <a:ext cx="1462641" cy="3087852"/>
            </a:xfrm>
            <a:prstGeom prst="rect">
              <a:avLst/>
            </a:prstGeom>
            <a:noFill/>
            <a:ln>
              <a:noFill/>
            </a:ln>
            <a:effectLst>
              <a:outerShdw blurRad="190500" dist="101600" dir="5400000" algn="ctr" rotWithShape="0">
                <a:srgbClr val="000000">
                  <a:alpha val="43137"/>
                </a:srgbClr>
              </a:outerShdw>
            </a:effectLst>
          </p:spPr>
          <p:txBody>
            <a:bodyPr wrap="square" rtlCol="0">
              <a:spAutoFit/>
            </a:bodyPr>
            <a:lstStyle/>
            <a:p>
              <a:r>
                <a:rPr lang="en-US" sz="16600" b="1" dirty="0"/>
                <a:t>8</a:t>
              </a:r>
              <a:endParaRPr lang="en-IN" sz="16600" b="1" dirty="0"/>
            </a:p>
          </p:txBody>
        </p:sp>
        <p:sp>
          <p:nvSpPr>
            <p:cNvPr id="4" name="Isosceles Triangle 3">
              <a:extLst>
                <a:ext uri="{FF2B5EF4-FFF2-40B4-BE49-F238E27FC236}">
                  <a16:creationId xmlns:a16="http://schemas.microsoft.com/office/drawing/2014/main" id="{7C16D9B2-F148-96D4-7D2E-EAA881C12106}"/>
                </a:ext>
              </a:extLst>
            </p:cNvPr>
            <p:cNvSpPr/>
            <p:nvPr/>
          </p:nvSpPr>
          <p:spPr>
            <a:xfrm rot="10800000">
              <a:off x="971405" y="1136197"/>
              <a:ext cx="565969" cy="459289"/>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Parallelogram 4">
              <a:extLst>
                <a:ext uri="{FF2B5EF4-FFF2-40B4-BE49-F238E27FC236}">
                  <a16:creationId xmlns:a16="http://schemas.microsoft.com/office/drawing/2014/main" id="{EA50976E-AEF7-7061-4B00-80D4012FF400}"/>
                </a:ext>
              </a:extLst>
            </p:cNvPr>
            <p:cNvSpPr/>
            <p:nvPr/>
          </p:nvSpPr>
          <p:spPr>
            <a:xfrm>
              <a:off x="794750" y="347161"/>
              <a:ext cx="2375721" cy="2656840"/>
            </a:xfrm>
            <a:prstGeom prst="parallelogram">
              <a:avLst>
                <a:gd name="adj" fmla="val 36100"/>
              </a:avLst>
            </a:prstGeom>
            <a:solidFill>
              <a:srgbClr val="FFFFFF"/>
            </a:solidFill>
            <a:ln>
              <a:noFill/>
            </a:ln>
            <a:effectLst>
              <a:outerShdw blurRad="317500" dist="190500" dir="10800000" sx="86000" sy="86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Shape 5">
              <a:extLst>
                <a:ext uri="{FF2B5EF4-FFF2-40B4-BE49-F238E27FC236}">
                  <a16:creationId xmlns:a16="http://schemas.microsoft.com/office/drawing/2014/main" id="{61A37ECA-5AAB-B721-21FA-B4748F4CEFD8}"/>
                </a:ext>
              </a:extLst>
            </p:cNvPr>
            <p:cNvSpPr/>
            <p:nvPr/>
          </p:nvSpPr>
          <p:spPr>
            <a:xfrm>
              <a:off x="971404" y="496117"/>
              <a:ext cx="1462821" cy="640080"/>
            </a:xfrm>
            <a:custGeom>
              <a:avLst/>
              <a:gdLst>
                <a:gd name="connsiteX0" fmla="*/ 214894 w 1434934"/>
                <a:gd name="connsiteY0" fmla="*/ 0 h 640080"/>
                <a:gd name="connsiteX1" fmla="*/ 1114894 w 1434934"/>
                <a:gd name="connsiteY1" fmla="*/ 0 h 640080"/>
                <a:gd name="connsiteX2" fmla="*/ 1434934 w 1434934"/>
                <a:gd name="connsiteY2" fmla="*/ 320040 h 640080"/>
                <a:gd name="connsiteX3" fmla="*/ 1114894 w 1434934"/>
                <a:gd name="connsiteY3" fmla="*/ 640080 h 640080"/>
                <a:gd name="connsiteX4" fmla="*/ 0 w 1434934"/>
                <a:gd name="connsiteY4" fmla="*/ 640080 h 640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934" h="640080">
                  <a:moveTo>
                    <a:pt x="214894" y="0"/>
                  </a:moveTo>
                  <a:lnTo>
                    <a:pt x="1114894" y="0"/>
                  </a:lnTo>
                  <a:cubicBezTo>
                    <a:pt x="1291647" y="0"/>
                    <a:pt x="1434934" y="143287"/>
                    <a:pt x="1434934" y="320040"/>
                  </a:cubicBezTo>
                  <a:cubicBezTo>
                    <a:pt x="1434934" y="496793"/>
                    <a:pt x="1291647" y="640080"/>
                    <a:pt x="1114894" y="640080"/>
                  </a:cubicBezTo>
                  <a:lnTo>
                    <a:pt x="0" y="640080"/>
                  </a:lnTo>
                  <a:close/>
                </a:path>
              </a:pathLst>
            </a:custGeom>
            <a:solidFill>
              <a:schemeClr val="accent1"/>
            </a:soli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nSpc>
                  <a:spcPct val="150000"/>
                </a:lnSpc>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Results </a:t>
              </a:r>
            </a:p>
          </p:txBody>
        </p:sp>
      </p:grpSp>
      <p:sp>
        <p:nvSpPr>
          <p:cNvPr id="8" name="TextBox 7">
            <a:extLst>
              <a:ext uri="{FF2B5EF4-FFF2-40B4-BE49-F238E27FC236}">
                <a16:creationId xmlns:a16="http://schemas.microsoft.com/office/drawing/2014/main" id="{A527E400-295B-D9E6-51F5-1AD730000FB1}"/>
              </a:ext>
            </a:extLst>
          </p:cNvPr>
          <p:cNvSpPr txBox="1"/>
          <p:nvPr/>
        </p:nvSpPr>
        <p:spPr>
          <a:xfrm>
            <a:off x="1539721" y="979714"/>
            <a:ext cx="9871618" cy="535531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Successfully visualized enterprise attack scenarios using Splunk dashboards.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Detected anomalies such as brute-force login attempts, suspicious IPs, and unusual system events.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Correlated multiple events to identify multi-stage attacks.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Real-time dashboards improved situational awareness and threat monitoring.</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Alerts enabled prompt response to potential security incidents.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L</a:t>
            </a:r>
            <a:r>
              <a:rPr lang="en-US" sz="2000" b="1" dirty="0">
                <a:latin typeface="Times New Roman" panose="02020603050405020304" pitchFamily="18" charset="0"/>
                <a:cs typeface="Times New Roman" panose="02020603050405020304" pitchFamily="18" charset="0"/>
              </a:rPr>
              <a:t>imitation’s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Dataset is simulated; may not cover all real-world attack variations.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volume of logs can impact dashboard performance.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complex attacks may require advanced correlation rules.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Limited automation in alert response; human analysis still needed.</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Requires prior knowledge of Splunk for effective configuration and analysis.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734898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2BA30C4-F32F-D21C-C537-C5A03EBC0768}"/>
              </a:ext>
            </a:extLst>
          </p:cNvPr>
          <p:cNvGrpSpPr/>
          <p:nvPr/>
        </p:nvGrpSpPr>
        <p:grpSpPr>
          <a:xfrm>
            <a:off x="0" y="-73873"/>
            <a:ext cx="3350296" cy="2646878"/>
            <a:chOff x="-12104" y="51561"/>
            <a:chExt cx="3182575" cy="3087852"/>
          </a:xfrm>
        </p:grpSpPr>
        <p:sp>
          <p:nvSpPr>
            <p:cNvPr id="3" name="TextBox 2">
              <a:extLst>
                <a:ext uri="{FF2B5EF4-FFF2-40B4-BE49-F238E27FC236}">
                  <a16:creationId xmlns:a16="http://schemas.microsoft.com/office/drawing/2014/main" id="{6E02BE39-5A30-38DB-9F9A-996D0207080B}"/>
                </a:ext>
              </a:extLst>
            </p:cNvPr>
            <p:cNvSpPr txBox="1"/>
            <p:nvPr/>
          </p:nvSpPr>
          <p:spPr>
            <a:xfrm>
              <a:off x="-12104" y="51561"/>
              <a:ext cx="1462641" cy="3087852"/>
            </a:xfrm>
            <a:prstGeom prst="rect">
              <a:avLst/>
            </a:prstGeom>
            <a:noFill/>
            <a:ln>
              <a:noFill/>
            </a:ln>
            <a:effectLst>
              <a:outerShdw blurRad="190500" dist="101600" dir="5400000" algn="ctr" rotWithShape="0">
                <a:srgbClr val="000000">
                  <a:alpha val="43137"/>
                </a:srgbClr>
              </a:outerShdw>
            </a:effectLst>
          </p:spPr>
          <p:txBody>
            <a:bodyPr wrap="square" rtlCol="0">
              <a:spAutoFit/>
            </a:bodyPr>
            <a:lstStyle/>
            <a:p>
              <a:r>
                <a:rPr lang="en-US" sz="16600" b="1" dirty="0"/>
                <a:t>9</a:t>
              </a:r>
              <a:endParaRPr lang="en-IN" sz="16600" b="1" dirty="0"/>
            </a:p>
          </p:txBody>
        </p:sp>
        <p:sp>
          <p:nvSpPr>
            <p:cNvPr id="4" name="Isosceles Triangle 3">
              <a:extLst>
                <a:ext uri="{FF2B5EF4-FFF2-40B4-BE49-F238E27FC236}">
                  <a16:creationId xmlns:a16="http://schemas.microsoft.com/office/drawing/2014/main" id="{A8508891-4B6C-C9B9-9DE3-386B8E5485A4}"/>
                </a:ext>
              </a:extLst>
            </p:cNvPr>
            <p:cNvSpPr/>
            <p:nvPr/>
          </p:nvSpPr>
          <p:spPr>
            <a:xfrm rot="10800000">
              <a:off x="971405" y="1136197"/>
              <a:ext cx="565969" cy="459289"/>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Parallelogram 4">
              <a:extLst>
                <a:ext uri="{FF2B5EF4-FFF2-40B4-BE49-F238E27FC236}">
                  <a16:creationId xmlns:a16="http://schemas.microsoft.com/office/drawing/2014/main" id="{36E96956-FB4D-1DCE-D6F4-BDD710450145}"/>
                </a:ext>
              </a:extLst>
            </p:cNvPr>
            <p:cNvSpPr/>
            <p:nvPr/>
          </p:nvSpPr>
          <p:spPr>
            <a:xfrm>
              <a:off x="794750" y="347161"/>
              <a:ext cx="2375721" cy="2656840"/>
            </a:xfrm>
            <a:prstGeom prst="parallelogram">
              <a:avLst>
                <a:gd name="adj" fmla="val 36100"/>
              </a:avLst>
            </a:prstGeom>
            <a:solidFill>
              <a:srgbClr val="FFFFFF"/>
            </a:solidFill>
            <a:ln>
              <a:noFill/>
            </a:ln>
            <a:effectLst>
              <a:outerShdw blurRad="317500" dist="190500" dir="10800000" sx="86000" sy="86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Shape 5">
              <a:extLst>
                <a:ext uri="{FF2B5EF4-FFF2-40B4-BE49-F238E27FC236}">
                  <a16:creationId xmlns:a16="http://schemas.microsoft.com/office/drawing/2014/main" id="{C9F64657-4D9C-9225-3AAE-D21DCD77568E}"/>
                </a:ext>
              </a:extLst>
            </p:cNvPr>
            <p:cNvSpPr/>
            <p:nvPr/>
          </p:nvSpPr>
          <p:spPr>
            <a:xfrm>
              <a:off x="971406" y="496117"/>
              <a:ext cx="1941448" cy="640080"/>
            </a:xfrm>
            <a:custGeom>
              <a:avLst/>
              <a:gdLst>
                <a:gd name="connsiteX0" fmla="*/ 214894 w 1434934"/>
                <a:gd name="connsiteY0" fmla="*/ 0 h 640080"/>
                <a:gd name="connsiteX1" fmla="*/ 1114894 w 1434934"/>
                <a:gd name="connsiteY1" fmla="*/ 0 h 640080"/>
                <a:gd name="connsiteX2" fmla="*/ 1434934 w 1434934"/>
                <a:gd name="connsiteY2" fmla="*/ 320040 h 640080"/>
                <a:gd name="connsiteX3" fmla="*/ 1114894 w 1434934"/>
                <a:gd name="connsiteY3" fmla="*/ 640080 h 640080"/>
                <a:gd name="connsiteX4" fmla="*/ 0 w 1434934"/>
                <a:gd name="connsiteY4" fmla="*/ 640080 h 640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934" h="640080">
                  <a:moveTo>
                    <a:pt x="214894" y="0"/>
                  </a:moveTo>
                  <a:lnTo>
                    <a:pt x="1114894" y="0"/>
                  </a:lnTo>
                  <a:cubicBezTo>
                    <a:pt x="1291647" y="0"/>
                    <a:pt x="1434934" y="143287"/>
                    <a:pt x="1434934" y="320040"/>
                  </a:cubicBezTo>
                  <a:cubicBezTo>
                    <a:pt x="1434934" y="496793"/>
                    <a:pt x="1291647" y="640080"/>
                    <a:pt x="1114894" y="640080"/>
                  </a:cubicBezTo>
                  <a:lnTo>
                    <a:pt x="0" y="640080"/>
                  </a:lnTo>
                  <a:close/>
                </a:path>
              </a:pathLst>
            </a:custGeom>
            <a:solidFill>
              <a:schemeClr val="accent1"/>
            </a:soli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nSpc>
                  <a:spcPct val="150000"/>
                </a:lnSpc>
              </a:pPr>
              <a:r>
                <a:rPr lang="en-US" sz="24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Future scope </a:t>
              </a:r>
            </a:p>
          </p:txBody>
        </p:sp>
      </p:grpSp>
      <p:sp>
        <p:nvSpPr>
          <p:cNvPr id="8" name="TextBox 7">
            <a:extLst>
              <a:ext uri="{FF2B5EF4-FFF2-40B4-BE49-F238E27FC236}">
                <a16:creationId xmlns:a16="http://schemas.microsoft.com/office/drawing/2014/main" id="{AFE6CCDE-1B16-E579-7D36-995FC86C9A7D}"/>
              </a:ext>
            </a:extLst>
          </p:cNvPr>
          <p:cNvSpPr txBox="1"/>
          <p:nvPr/>
        </p:nvSpPr>
        <p:spPr>
          <a:xfrm>
            <a:off x="1566073" y="989045"/>
            <a:ext cx="9059854" cy="544405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 machine learning for predictive threat detection and anomaly analysis.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Automate alert response using SOAR (Security Orchestration, Automation, and Response) tools.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Expand dataset coverage to include cloud, IoT, and endpoint telemetry.</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 advanced correlation rules for detecting sophisticated multi-stage attacks.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Incorporate threat intelligence feeds for proactive security monitoring.</a:t>
            </a:r>
          </a:p>
          <a:p>
            <a:pPr marL="285750" indent="-285750">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Industry adoption</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Widely used in enterprises for real-time threat monitoring and incident response.</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Helps organizations comply with cybersecurity regulations and standards.</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Assists SOC teams in prioritizing critical security events efficiently.</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Enhances overall cybersecurity posture by enabling proactive threat management.</a:t>
            </a:r>
          </a:p>
          <a:p>
            <a:pPr marL="285750" indent="-28575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Adopted in financial, healthcare, IT, and government sectors for enterprise security</a:t>
            </a:r>
          </a:p>
        </p:txBody>
      </p:sp>
    </p:spTree>
    <p:extLst>
      <p:ext uri="{BB962C8B-B14F-4D97-AF65-F5344CB8AC3E}">
        <p14:creationId xmlns:p14="http://schemas.microsoft.com/office/powerpoint/2010/main" val="3871088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4340FBA-3663-AC57-8A0D-76A379B83506}"/>
              </a:ext>
            </a:extLst>
          </p:cNvPr>
          <p:cNvGrpSpPr/>
          <p:nvPr/>
        </p:nvGrpSpPr>
        <p:grpSpPr>
          <a:xfrm>
            <a:off x="-130916" y="0"/>
            <a:ext cx="4380798" cy="2388275"/>
            <a:chOff x="-298880" y="137741"/>
            <a:chExt cx="3636326" cy="2786165"/>
          </a:xfrm>
        </p:grpSpPr>
        <p:sp>
          <p:nvSpPr>
            <p:cNvPr id="3" name="TextBox 2">
              <a:extLst>
                <a:ext uri="{FF2B5EF4-FFF2-40B4-BE49-F238E27FC236}">
                  <a16:creationId xmlns:a16="http://schemas.microsoft.com/office/drawing/2014/main" id="{DBD153BF-A461-F6D7-66B0-CFDCD3EEEA71}"/>
                </a:ext>
              </a:extLst>
            </p:cNvPr>
            <p:cNvSpPr txBox="1"/>
            <p:nvPr/>
          </p:nvSpPr>
          <p:spPr>
            <a:xfrm>
              <a:off x="-298880" y="137741"/>
              <a:ext cx="1928560" cy="2585178"/>
            </a:xfrm>
            <a:prstGeom prst="rect">
              <a:avLst/>
            </a:prstGeom>
            <a:noFill/>
            <a:ln>
              <a:noFill/>
            </a:ln>
            <a:effectLst>
              <a:outerShdw blurRad="190500" dist="101600" dir="5400000" algn="ctr" rotWithShape="0">
                <a:srgbClr val="000000">
                  <a:alpha val="43137"/>
                </a:srgbClr>
              </a:outerShdw>
            </a:effectLst>
          </p:spPr>
          <p:txBody>
            <a:bodyPr wrap="square" rtlCol="0">
              <a:spAutoFit/>
            </a:bodyPr>
            <a:lstStyle/>
            <a:p>
              <a:r>
                <a:rPr lang="en-US" sz="13800" b="1" dirty="0">
                  <a:latin typeface="Times New Roman" panose="02020603050405020304" pitchFamily="18" charset="0"/>
                  <a:cs typeface="Times New Roman" panose="02020603050405020304" pitchFamily="18" charset="0"/>
                </a:rPr>
                <a:t>10</a:t>
              </a:r>
              <a:endParaRPr lang="en-IN" sz="13800" b="1" dirty="0">
                <a:latin typeface="Times New Roman" panose="02020603050405020304" pitchFamily="18" charset="0"/>
                <a:cs typeface="Times New Roman" panose="02020603050405020304" pitchFamily="18" charset="0"/>
              </a:endParaRPr>
            </a:p>
          </p:txBody>
        </p:sp>
        <p:sp>
          <p:nvSpPr>
            <p:cNvPr id="4" name="Isosceles Triangle 3">
              <a:extLst>
                <a:ext uri="{FF2B5EF4-FFF2-40B4-BE49-F238E27FC236}">
                  <a16:creationId xmlns:a16="http://schemas.microsoft.com/office/drawing/2014/main" id="{C36D3FC8-132B-BD61-A802-898F2D60898B}"/>
                </a:ext>
              </a:extLst>
            </p:cNvPr>
            <p:cNvSpPr/>
            <p:nvPr/>
          </p:nvSpPr>
          <p:spPr>
            <a:xfrm rot="10800000">
              <a:off x="971405" y="1136197"/>
              <a:ext cx="565969" cy="459289"/>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Parallelogram 4">
              <a:extLst>
                <a:ext uri="{FF2B5EF4-FFF2-40B4-BE49-F238E27FC236}">
                  <a16:creationId xmlns:a16="http://schemas.microsoft.com/office/drawing/2014/main" id="{D5D90DEB-DF93-9FEA-A1F9-B8F99482A70C}"/>
                </a:ext>
              </a:extLst>
            </p:cNvPr>
            <p:cNvSpPr/>
            <p:nvPr/>
          </p:nvSpPr>
          <p:spPr>
            <a:xfrm>
              <a:off x="961725" y="267066"/>
              <a:ext cx="2375721" cy="2656840"/>
            </a:xfrm>
            <a:prstGeom prst="parallelogram">
              <a:avLst>
                <a:gd name="adj" fmla="val 36100"/>
              </a:avLst>
            </a:prstGeom>
            <a:solidFill>
              <a:srgbClr val="FFFFFF"/>
            </a:solidFill>
            <a:ln>
              <a:noFill/>
            </a:ln>
            <a:effectLst>
              <a:outerShdw blurRad="317500" dist="190500" dir="10800000" sx="86000" sy="86000" algn="ctr" rotWithShape="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Freeform: Shape 5">
              <a:extLst>
                <a:ext uri="{FF2B5EF4-FFF2-40B4-BE49-F238E27FC236}">
                  <a16:creationId xmlns:a16="http://schemas.microsoft.com/office/drawing/2014/main" id="{35A82E0E-F6AD-DD95-8EEF-89C8E3E357A8}"/>
                </a:ext>
              </a:extLst>
            </p:cNvPr>
            <p:cNvSpPr/>
            <p:nvPr/>
          </p:nvSpPr>
          <p:spPr>
            <a:xfrm>
              <a:off x="971406" y="496117"/>
              <a:ext cx="1735002" cy="640080"/>
            </a:xfrm>
            <a:custGeom>
              <a:avLst/>
              <a:gdLst>
                <a:gd name="connsiteX0" fmla="*/ 214894 w 1434934"/>
                <a:gd name="connsiteY0" fmla="*/ 0 h 640080"/>
                <a:gd name="connsiteX1" fmla="*/ 1114894 w 1434934"/>
                <a:gd name="connsiteY1" fmla="*/ 0 h 640080"/>
                <a:gd name="connsiteX2" fmla="*/ 1434934 w 1434934"/>
                <a:gd name="connsiteY2" fmla="*/ 320040 h 640080"/>
                <a:gd name="connsiteX3" fmla="*/ 1114894 w 1434934"/>
                <a:gd name="connsiteY3" fmla="*/ 640080 h 640080"/>
                <a:gd name="connsiteX4" fmla="*/ 0 w 1434934"/>
                <a:gd name="connsiteY4" fmla="*/ 640080 h 6400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4934" h="640080">
                  <a:moveTo>
                    <a:pt x="214894" y="0"/>
                  </a:moveTo>
                  <a:lnTo>
                    <a:pt x="1114894" y="0"/>
                  </a:lnTo>
                  <a:cubicBezTo>
                    <a:pt x="1291647" y="0"/>
                    <a:pt x="1434934" y="143287"/>
                    <a:pt x="1434934" y="320040"/>
                  </a:cubicBezTo>
                  <a:cubicBezTo>
                    <a:pt x="1434934" y="496793"/>
                    <a:pt x="1291647" y="640080"/>
                    <a:pt x="1114894" y="640080"/>
                  </a:cubicBezTo>
                  <a:lnTo>
                    <a:pt x="0" y="640080"/>
                  </a:lnTo>
                  <a:close/>
                </a:path>
              </a:pathLst>
            </a:custGeom>
            <a:solidFill>
              <a:schemeClr val="accent1"/>
            </a:solidFill>
            <a:ln>
              <a:noFill/>
            </a:ln>
            <a:effectLst>
              <a:outerShdw blurRad="317500" dist="1524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nSpc>
                  <a:spcPct val="150000"/>
                </a:lnSpc>
              </a:pPr>
              <a:r>
                <a:rPr lang="en-US" sz="24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Conclusion</a:t>
              </a:r>
            </a:p>
          </p:txBody>
        </p:sp>
      </p:grpSp>
      <p:sp>
        <p:nvSpPr>
          <p:cNvPr id="7" name="TextBox 6">
            <a:extLst>
              <a:ext uri="{FF2B5EF4-FFF2-40B4-BE49-F238E27FC236}">
                <a16:creationId xmlns:a16="http://schemas.microsoft.com/office/drawing/2014/main" id="{34905AFD-A4CB-916E-D31F-6582DC3A1B89}"/>
              </a:ext>
            </a:extLst>
          </p:cNvPr>
          <p:cNvSpPr txBox="1"/>
          <p:nvPr/>
        </p:nvSpPr>
        <p:spPr>
          <a:xfrm>
            <a:off x="634482" y="2499131"/>
            <a:ext cx="9955763" cy="1704569"/>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                       This project helped me understand how SIEM works and how to analyze security logs using Splunk. It taught me to visualize attacks, detect anomalies, and respond to threats in real time. By correlating multiple events, I learned how multi-stage attacks occur, which improved my practical skills in cybersecurity and prepared me for real-world security monitoring and incident response.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2897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CBAE68AE-3993-9EE8-07AE-42E1C0C7CCA7}"/>
              </a:ext>
            </a:extLst>
          </p:cNvPr>
          <p:cNvSpPr txBox="1"/>
          <p:nvPr/>
        </p:nvSpPr>
        <p:spPr>
          <a:xfrm>
            <a:off x="106680" y="1714456"/>
            <a:ext cx="13435828" cy="3154710"/>
          </a:xfrm>
          <a:prstGeom prst="rect">
            <a:avLst/>
          </a:prstGeom>
          <a:noFill/>
          <a:effectLst>
            <a:glow rad="88900">
              <a:schemeClr val="accent3">
                <a:satMod val="175000"/>
                <a:alpha val="40000"/>
              </a:schemeClr>
            </a:glow>
            <a:outerShdw blurRad="304800" dist="939800" sx="102000" sy="102000" algn="ctr" rotWithShape="0">
              <a:schemeClr val="tx1">
                <a:alpha val="40000"/>
              </a:schemeClr>
            </a:outerShdw>
          </a:effectLst>
        </p:spPr>
        <p:txBody>
          <a:bodyPr wrap="square" rtlCol="0">
            <a:spAutoFit/>
          </a:bodyPr>
          <a:lstStyle/>
          <a:p>
            <a:pPr algn="ctr"/>
            <a:r>
              <a:rPr lang="en-US" sz="19900" b="1" dirty="0">
                <a:effectLst>
                  <a:outerShdw blurRad="38100" dist="38100" dir="2700000" algn="tl">
                    <a:srgbClr val="000000">
                      <a:alpha val="43137"/>
                    </a:srgbClr>
                  </a:outerShdw>
                </a:effectLst>
                <a:latin typeface="Pristina" panose="03060402040406080204" pitchFamily="66" charset="0"/>
              </a:rPr>
              <a:t>Thank You</a:t>
            </a:r>
            <a:endParaRPr lang="en-IN" sz="19900" b="1" dirty="0">
              <a:effectLst>
                <a:outerShdw blurRad="38100" dist="38100" dir="2700000" algn="tl">
                  <a:srgbClr val="000000">
                    <a:alpha val="43137"/>
                  </a:srgbClr>
                </a:outerShdw>
              </a:effectLst>
              <a:latin typeface="Pristina" panose="03060402040406080204" pitchFamily="66" charset="0"/>
            </a:endParaRPr>
          </a:p>
        </p:txBody>
      </p:sp>
      <p:sp>
        <p:nvSpPr>
          <p:cNvPr id="8" name="Freeform: Shape 7">
            <a:extLst>
              <a:ext uri="{FF2B5EF4-FFF2-40B4-BE49-F238E27FC236}">
                <a16:creationId xmlns:a16="http://schemas.microsoft.com/office/drawing/2014/main" id="{6BB7C39C-854A-27D9-A55F-B33D68F634DF}"/>
              </a:ext>
            </a:extLst>
          </p:cNvPr>
          <p:cNvSpPr/>
          <p:nvPr/>
        </p:nvSpPr>
        <p:spPr>
          <a:xfrm>
            <a:off x="0" y="0"/>
            <a:ext cx="7483630" cy="6858000"/>
          </a:xfrm>
          <a:custGeom>
            <a:avLst/>
            <a:gdLst>
              <a:gd name="connsiteX0" fmla="*/ 0 w 7483630"/>
              <a:gd name="connsiteY0" fmla="*/ 0 h 6858000"/>
              <a:gd name="connsiteX1" fmla="*/ 3432321 w 7483630"/>
              <a:gd name="connsiteY1" fmla="*/ 0 h 6858000"/>
              <a:gd name="connsiteX2" fmla="*/ 3409937 w 7483630"/>
              <a:gd name="connsiteY2" fmla="*/ 128593 h 6858000"/>
              <a:gd name="connsiteX3" fmla="*/ 2974694 w 7483630"/>
              <a:gd name="connsiteY3" fmla="*/ 2639028 h 6858000"/>
              <a:gd name="connsiteX4" fmla="*/ 6053559 w 7483630"/>
              <a:gd name="connsiteY4" fmla="*/ 4224759 h 6858000"/>
              <a:gd name="connsiteX5" fmla="*/ 6308203 w 7483630"/>
              <a:gd name="connsiteY5" fmla="*/ 5428527 h 6858000"/>
              <a:gd name="connsiteX6" fmla="*/ 7463657 w 7483630"/>
              <a:gd name="connsiteY6" fmla="*/ 6855081 h 6858000"/>
              <a:gd name="connsiteX7" fmla="*/ 7461727 w 7483630"/>
              <a:gd name="connsiteY7" fmla="*/ 6858000 h 6858000"/>
              <a:gd name="connsiteX8" fmla="*/ 0 w 7483630"/>
              <a:gd name="connsiteY8" fmla="*/ 6858000 h 6858000"/>
              <a:gd name="connsiteX9" fmla="*/ 0 w 7483630"/>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83630" h="6858000">
                <a:moveTo>
                  <a:pt x="0" y="0"/>
                </a:moveTo>
                <a:lnTo>
                  <a:pt x="3432321" y="0"/>
                </a:lnTo>
                <a:lnTo>
                  <a:pt x="3409937" y="128593"/>
                </a:lnTo>
                <a:cubicBezTo>
                  <a:pt x="3231575" y="954919"/>
                  <a:pt x="2657717" y="2070060"/>
                  <a:pt x="2974694" y="2639028"/>
                </a:cubicBezTo>
                <a:cubicBezTo>
                  <a:pt x="3435752" y="3466618"/>
                  <a:pt x="5497974" y="3759843"/>
                  <a:pt x="6053559" y="4224759"/>
                </a:cubicBezTo>
                <a:cubicBezTo>
                  <a:pt x="6609144" y="4689676"/>
                  <a:pt x="6090213" y="4973256"/>
                  <a:pt x="6308203" y="5428527"/>
                </a:cubicBezTo>
                <a:cubicBezTo>
                  <a:pt x="6505757" y="5841117"/>
                  <a:pt x="7647589" y="6496113"/>
                  <a:pt x="7463657" y="6855081"/>
                </a:cubicBezTo>
                <a:lnTo>
                  <a:pt x="7461727" y="6858000"/>
                </a:lnTo>
                <a:lnTo>
                  <a:pt x="0" y="6858000"/>
                </a:lnTo>
                <a:lnTo>
                  <a:pt x="0" y="0"/>
                </a:lnTo>
                <a:close/>
              </a:path>
            </a:pathLst>
          </a:custGeom>
          <a:solidFill>
            <a:schemeClr val="tx2">
              <a:lumMod val="60000"/>
              <a:lumOff val="40000"/>
            </a:schemeClr>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6" name="Freeform: Shape 5">
            <a:extLst>
              <a:ext uri="{FF2B5EF4-FFF2-40B4-BE49-F238E27FC236}">
                <a16:creationId xmlns:a16="http://schemas.microsoft.com/office/drawing/2014/main" id="{30FA6B12-5703-A629-E33B-ACCC6B838CB2}"/>
              </a:ext>
            </a:extLst>
          </p:cNvPr>
          <p:cNvSpPr/>
          <p:nvPr/>
        </p:nvSpPr>
        <p:spPr>
          <a:xfrm>
            <a:off x="2880943" y="-2"/>
            <a:ext cx="9311057" cy="6858000"/>
          </a:xfrm>
          <a:custGeom>
            <a:avLst/>
            <a:gdLst>
              <a:gd name="connsiteX0" fmla="*/ 551378 w 9311057"/>
              <a:gd name="connsiteY0" fmla="*/ 0 h 6858000"/>
              <a:gd name="connsiteX1" fmla="*/ 9311057 w 9311057"/>
              <a:gd name="connsiteY1" fmla="*/ 0 h 6858000"/>
              <a:gd name="connsiteX2" fmla="*/ 9311057 w 9311057"/>
              <a:gd name="connsiteY2" fmla="*/ 6858000 h 6858000"/>
              <a:gd name="connsiteX3" fmla="*/ 4580784 w 9311057"/>
              <a:gd name="connsiteY3" fmla="*/ 6858000 h 6858000"/>
              <a:gd name="connsiteX4" fmla="*/ 4582714 w 9311057"/>
              <a:gd name="connsiteY4" fmla="*/ 6855081 h 6858000"/>
              <a:gd name="connsiteX5" fmla="*/ 3427260 w 9311057"/>
              <a:gd name="connsiteY5" fmla="*/ 5428527 h 6858000"/>
              <a:gd name="connsiteX6" fmla="*/ 3172616 w 9311057"/>
              <a:gd name="connsiteY6" fmla="*/ 4224759 h 6858000"/>
              <a:gd name="connsiteX7" fmla="*/ 93751 w 9311057"/>
              <a:gd name="connsiteY7" fmla="*/ 2639028 h 6858000"/>
              <a:gd name="connsiteX8" fmla="*/ 528994 w 9311057"/>
              <a:gd name="connsiteY8" fmla="*/ 128593 h 6858000"/>
              <a:gd name="connsiteX9" fmla="*/ 551378 w 9311057"/>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11057" h="6858000">
                <a:moveTo>
                  <a:pt x="551378" y="0"/>
                </a:moveTo>
                <a:lnTo>
                  <a:pt x="9311057" y="0"/>
                </a:lnTo>
                <a:lnTo>
                  <a:pt x="9311057" y="6858000"/>
                </a:lnTo>
                <a:lnTo>
                  <a:pt x="4580784" y="6858000"/>
                </a:lnTo>
                <a:lnTo>
                  <a:pt x="4582714" y="6855081"/>
                </a:lnTo>
                <a:cubicBezTo>
                  <a:pt x="4766646" y="6496113"/>
                  <a:pt x="3624814" y="5841117"/>
                  <a:pt x="3427260" y="5428527"/>
                </a:cubicBezTo>
                <a:cubicBezTo>
                  <a:pt x="3209270" y="4973256"/>
                  <a:pt x="3728201" y="4689676"/>
                  <a:pt x="3172616" y="4224759"/>
                </a:cubicBezTo>
                <a:cubicBezTo>
                  <a:pt x="2617031" y="3759843"/>
                  <a:pt x="554809" y="3466618"/>
                  <a:pt x="93751" y="2639028"/>
                </a:cubicBezTo>
                <a:cubicBezTo>
                  <a:pt x="-223226" y="2070060"/>
                  <a:pt x="350632" y="954919"/>
                  <a:pt x="528994" y="128593"/>
                </a:cubicBezTo>
                <a:lnTo>
                  <a:pt x="551378" y="0"/>
                </a:lnTo>
                <a:close/>
              </a:path>
            </a:pathLst>
          </a:cu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9" name="Freeform: Shape 8">
            <a:extLst>
              <a:ext uri="{FF2B5EF4-FFF2-40B4-BE49-F238E27FC236}">
                <a16:creationId xmlns:a16="http://schemas.microsoft.com/office/drawing/2014/main" id="{33D43592-172E-CCF2-DA5D-C5E0A3D62056}"/>
              </a:ext>
            </a:extLst>
          </p:cNvPr>
          <p:cNvSpPr/>
          <p:nvPr/>
        </p:nvSpPr>
        <p:spPr>
          <a:xfrm>
            <a:off x="-686590" y="411480"/>
            <a:ext cx="7483630" cy="6858000"/>
          </a:xfrm>
          <a:custGeom>
            <a:avLst/>
            <a:gdLst>
              <a:gd name="connsiteX0" fmla="*/ 0 w 7483630"/>
              <a:gd name="connsiteY0" fmla="*/ 0 h 6858000"/>
              <a:gd name="connsiteX1" fmla="*/ 3432321 w 7483630"/>
              <a:gd name="connsiteY1" fmla="*/ 0 h 6858000"/>
              <a:gd name="connsiteX2" fmla="*/ 3409937 w 7483630"/>
              <a:gd name="connsiteY2" fmla="*/ 128593 h 6858000"/>
              <a:gd name="connsiteX3" fmla="*/ 2974694 w 7483630"/>
              <a:gd name="connsiteY3" fmla="*/ 2639028 h 6858000"/>
              <a:gd name="connsiteX4" fmla="*/ 6053559 w 7483630"/>
              <a:gd name="connsiteY4" fmla="*/ 4224759 h 6858000"/>
              <a:gd name="connsiteX5" fmla="*/ 6308203 w 7483630"/>
              <a:gd name="connsiteY5" fmla="*/ 5428527 h 6858000"/>
              <a:gd name="connsiteX6" fmla="*/ 7463657 w 7483630"/>
              <a:gd name="connsiteY6" fmla="*/ 6855081 h 6858000"/>
              <a:gd name="connsiteX7" fmla="*/ 7461727 w 7483630"/>
              <a:gd name="connsiteY7" fmla="*/ 6858000 h 6858000"/>
              <a:gd name="connsiteX8" fmla="*/ 0 w 7483630"/>
              <a:gd name="connsiteY8" fmla="*/ 6858000 h 6858000"/>
              <a:gd name="connsiteX9" fmla="*/ 0 w 7483630"/>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83630" h="6858000">
                <a:moveTo>
                  <a:pt x="0" y="0"/>
                </a:moveTo>
                <a:lnTo>
                  <a:pt x="3432321" y="0"/>
                </a:lnTo>
                <a:lnTo>
                  <a:pt x="3409937" y="128593"/>
                </a:lnTo>
                <a:cubicBezTo>
                  <a:pt x="3231575" y="954919"/>
                  <a:pt x="2657717" y="2070060"/>
                  <a:pt x="2974694" y="2639028"/>
                </a:cubicBezTo>
                <a:cubicBezTo>
                  <a:pt x="3435752" y="3466618"/>
                  <a:pt x="5497974" y="3759843"/>
                  <a:pt x="6053559" y="4224759"/>
                </a:cubicBezTo>
                <a:cubicBezTo>
                  <a:pt x="6609144" y="4689676"/>
                  <a:pt x="6090213" y="4973256"/>
                  <a:pt x="6308203" y="5428527"/>
                </a:cubicBezTo>
                <a:cubicBezTo>
                  <a:pt x="6505757" y="5841117"/>
                  <a:pt x="7647589" y="6496113"/>
                  <a:pt x="7463657" y="6855081"/>
                </a:cubicBezTo>
                <a:lnTo>
                  <a:pt x="7461727" y="6858000"/>
                </a:lnTo>
                <a:lnTo>
                  <a:pt x="0" y="6858000"/>
                </a:lnTo>
                <a:lnTo>
                  <a:pt x="0" y="0"/>
                </a:lnTo>
                <a:close/>
              </a:path>
            </a:pathLst>
          </a:cu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 name="Freeform: Shape 9">
            <a:extLst>
              <a:ext uri="{FF2B5EF4-FFF2-40B4-BE49-F238E27FC236}">
                <a16:creationId xmlns:a16="http://schemas.microsoft.com/office/drawing/2014/main" id="{7FC0018E-2AA5-4319-7810-00208ECE522C}"/>
              </a:ext>
            </a:extLst>
          </p:cNvPr>
          <p:cNvSpPr/>
          <p:nvPr/>
        </p:nvSpPr>
        <p:spPr>
          <a:xfrm rot="10800000">
            <a:off x="6058878" y="0"/>
            <a:ext cx="7483630" cy="6858000"/>
          </a:xfrm>
          <a:custGeom>
            <a:avLst/>
            <a:gdLst>
              <a:gd name="connsiteX0" fmla="*/ 0 w 7483630"/>
              <a:gd name="connsiteY0" fmla="*/ 0 h 6858000"/>
              <a:gd name="connsiteX1" fmla="*/ 3432321 w 7483630"/>
              <a:gd name="connsiteY1" fmla="*/ 0 h 6858000"/>
              <a:gd name="connsiteX2" fmla="*/ 3409937 w 7483630"/>
              <a:gd name="connsiteY2" fmla="*/ 128593 h 6858000"/>
              <a:gd name="connsiteX3" fmla="*/ 2974694 w 7483630"/>
              <a:gd name="connsiteY3" fmla="*/ 2639028 h 6858000"/>
              <a:gd name="connsiteX4" fmla="*/ 6053559 w 7483630"/>
              <a:gd name="connsiteY4" fmla="*/ 4224759 h 6858000"/>
              <a:gd name="connsiteX5" fmla="*/ 6308203 w 7483630"/>
              <a:gd name="connsiteY5" fmla="*/ 5428527 h 6858000"/>
              <a:gd name="connsiteX6" fmla="*/ 7463657 w 7483630"/>
              <a:gd name="connsiteY6" fmla="*/ 6855081 h 6858000"/>
              <a:gd name="connsiteX7" fmla="*/ 7461727 w 7483630"/>
              <a:gd name="connsiteY7" fmla="*/ 6858000 h 6858000"/>
              <a:gd name="connsiteX8" fmla="*/ 0 w 7483630"/>
              <a:gd name="connsiteY8" fmla="*/ 6858000 h 6858000"/>
              <a:gd name="connsiteX9" fmla="*/ 0 w 7483630"/>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83630" h="6858000">
                <a:moveTo>
                  <a:pt x="0" y="0"/>
                </a:moveTo>
                <a:lnTo>
                  <a:pt x="3432321" y="0"/>
                </a:lnTo>
                <a:lnTo>
                  <a:pt x="3409937" y="128593"/>
                </a:lnTo>
                <a:cubicBezTo>
                  <a:pt x="3231575" y="954919"/>
                  <a:pt x="2657717" y="2070060"/>
                  <a:pt x="2974694" y="2639028"/>
                </a:cubicBezTo>
                <a:cubicBezTo>
                  <a:pt x="3435752" y="3466618"/>
                  <a:pt x="5497974" y="3759843"/>
                  <a:pt x="6053559" y="4224759"/>
                </a:cubicBezTo>
                <a:cubicBezTo>
                  <a:pt x="6609144" y="4689676"/>
                  <a:pt x="6090213" y="4973256"/>
                  <a:pt x="6308203" y="5428527"/>
                </a:cubicBezTo>
                <a:cubicBezTo>
                  <a:pt x="6505757" y="5841117"/>
                  <a:pt x="7647589" y="6496113"/>
                  <a:pt x="7463657" y="6855081"/>
                </a:cubicBezTo>
                <a:lnTo>
                  <a:pt x="7461727" y="6858000"/>
                </a:lnTo>
                <a:lnTo>
                  <a:pt x="0" y="6858000"/>
                </a:lnTo>
                <a:lnTo>
                  <a:pt x="0" y="0"/>
                </a:lnTo>
                <a:close/>
              </a:path>
            </a:pathLst>
          </a:custGeom>
          <a:solidFill>
            <a:schemeClr val="accent3">
              <a:lumMod val="75000"/>
            </a:schemeClr>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1" name="Freeform: Shape 10">
            <a:extLst>
              <a:ext uri="{FF2B5EF4-FFF2-40B4-BE49-F238E27FC236}">
                <a16:creationId xmlns:a16="http://schemas.microsoft.com/office/drawing/2014/main" id="{00A68149-141D-580C-DD0A-1A2D25A0C663}"/>
              </a:ext>
            </a:extLst>
          </p:cNvPr>
          <p:cNvSpPr/>
          <p:nvPr/>
        </p:nvSpPr>
        <p:spPr>
          <a:xfrm rot="10800000">
            <a:off x="6797040" y="-411480"/>
            <a:ext cx="7483630" cy="6858000"/>
          </a:xfrm>
          <a:custGeom>
            <a:avLst/>
            <a:gdLst>
              <a:gd name="connsiteX0" fmla="*/ 0 w 7483630"/>
              <a:gd name="connsiteY0" fmla="*/ 0 h 6858000"/>
              <a:gd name="connsiteX1" fmla="*/ 3432321 w 7483630"/>
              <a:gd name="connsiteY1" fmla="*/ 0 h 6858000"/>
              <a:gd name="connsiteX2" fmla="*/ 3409937 w 7483630"/>
              <a:gd name="connsiteY2" fmla="*/ 128593 h 6858000"/>
              <a:gd name="connsiteX3" fmla="*/ 2974694 w 7483630"/>
              <a:gd name="connsiteY3" fmla="*/ 2639028 h 6858000"/>
              <a:gd name="connsiteX4" fmla="*/ 6053559 w 7483630"/>
              <a:gd name="connsiteY4" fmla="*/ 4224759 h 6858000"/>
              <a:gd name="connsiteX5" fmla="*/ 6308203 w 7483630"/>
              <a:gd name="connsiteY5" fmla="*/ 5428527 h 6858000"/>
              <a:gd name="connsiteX6" fmla="*/ 7463657 w 7483630"/>
              <a:gd name="connsiteY6" fmla="*/ 6855081 h 6858000"/>
              <a:gd name="connsiteX7" fmla="*/ 7461727 w 7483630"/>
              <a:gd name="connsiteY7" fmla="*/ 6858000 h 6858000"/>
              <a:gd name="connsiteX8" fmla="*/ 0 w 7483630"/>
              <a:gd name="connsiteY8" fmla="*/ 6858000 h 6858000"/>
              <a:gd name="connsiteX9" fmla="*/ 0 w 7483630"/>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83630" h="6858000">
                <a:moveTo>
                  <a:pt x="0" y="0"/>
                </a:moveTo>
                <a:lnTo>
                  <a:pt x="3432321" y="0"/>
                </a:lnTo>
                <a:lnTo>
                  <a:pt x="3409937" y="128593"/>
                </a:lnTo>
                <a:cubicBezTo>
                  <a:pt x="3231575" y="954919"/>
                  <a:pt x="2657717" y="2070060"/>
                  <a:pt x="2974694" y="2639028"/>
                </a:cubicBezTo>
                <a:cubicBezTo>
                  <a:pt x="3435752" y="3466618"/>
                  <a:pt x="5497974" y="3759843"/>
                  <a:pt x="6053559" y="4224759"/>
                </a:cubicBezTo>
                <a:cubicBezTo>
                  <a:pt x="6609144" y="4689676"/>
                  <a:pt x="6090213" y="4973256"/>
                  <a:pt x="6308203" y="5428527"/>
                </a:cubicBezTo>
                <a:cubicBezTo>
                  <a:pt x="6505757" y="5841117"/>
                  <a:pt x="7647589" y="6496113"/>
                  <a:pt x="7463657" y="6855081"/>
                </a:cubicBezTo>
                <a:lnTo>
                  <a:pt x="7461727" y="6858000"/>
                </a:lnTo>
                <a:lnTo>
                  <a:pt x="0" y="6858000"/>
                </a:lnTo>
                <a:lnTo>
                  <a:pt x="0" y="0"/>
                </a:lnTo>
                <a:close/>
              </a:path>
            </a:pathLst>
          </a:cu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3997574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5D038-700E-D814-2030-00CD9637D27D}"/>
            </a:ext>
          </a:extLst>
        </p:cNvPr>
        <p:cNvGrpSpPr/>
        <p:nvPr/>
      </p:nvGrpSpPr>
      <p:grpSpPr>
        <a:xfrm>
          <a:off x="0" y="0"/>
          <a:ext cx="0" cy="0"/>
          <a:chOff x="0" y="0"/>
          <a:chExt cx="0" cy="0"/>
        </a:xfrm>
      </p:grpSpPr>
      <p:sp>
        <p:nvSpPr>
          <p:cNvPr id="12" name="TextBox 11">
            <a:extLst>
              <a:ext uri="{FF2B5EF4-FFF2-40B4-BE49-F238E27FC236}">
                <a16:creationId xmlns:a16="http://schemas.microsoft.com/office/drawing/2014/main" id="{8EBE987D-BB54-3FD4-4235-EE7EC4AD4748}"/>
              </a:ext>
            </a:extLst>
          </p:cNvPr>
          <p:cNvSpPr txBox="1"/>
          <p:nvPr/>
        </p:nvSpPr>
        <p:spPr>
          <a:xfrm>
            <a:off x="-572478" y="1634378"/>
            <a:ext cx="13435828" cy="3154710"/>
          </a:xfrm>
          <a:prstGeom prst="rect">
            <a:avLst/>
          </a:prstGeom>
          <a:noFill/>
          <a:effectLst>
            <a:glow rad="88900">
              <a:schemeClr val="accent3">
                <a:satMod val="175000"/>
                <a:alpha val="40000"/>
              </a:schemeClr>
            </a:glow>
            <a:outerShdw blurRad="304800" dist="939800" sx="102000" sy="102000" algn="ctr" rotWithShape="0">
              <a:schemeClr val="tx1">
                <a:alpha val="40000"/>
              </a:schemeClr>
            </a:outerShdw>
          </a:effectLst>
        </p:spPr>
        <p:txBody>
          <a:bodyPr wrap="square" rtlCol="0">
            <a:spAutoFit/>
          </a:bodyPr>
          <a:lstStyle/>
          <a:p>
            <a:pPr algn="ctr"/>
            <a:r>
              <a:rPr lang="en-US" sz="19900" dirty="0">
                <a:ln w="0">
                  <a:solidFill>
                    <a:schemeClr val="tx1"/>
                  </a:solidFill>
                </a:ln>
                <a:effectLst>
                  <a:glow rad="228600">
                    <a:schemeClr val="accent3">
                      <a:satMod val="175000"/>
                      <a:alpha val="40000"/>
                    </a:schemeClr>
                  </a:glow>
                  <a:outerShdw blurRad="50800" dist="38100" algn="l" rotWithShape="0">
                    <a:prstClr val="black">
                      <a:alpha val="40000"/>
                    </a:prstClr>
                  </a:outerShdw>
                </a:effectLst>
                <a:latin typeface="Pristina" panose="03060402040406080204" pitchFamily="66" charset="0"/>
              </a:rPr>
              <a:t>Thank You</a:t>
            </a:r>
            <a:endParaRPr lang="en-IN" sz="19900" dirty="0">
              <a:ln w="0">
                <a:solidFill>
                  <a:schemeClr val="tx1"/>
                </a:solidFill>
              </a:ln>
              <a:effectLst>
                <a:glow rad="228600">
                  <a:schemeClr val="accent3">
                    <a:satMod val="175000"/>
                    <a:alpha val="40000"/>
                  </a:schemeClr>
                </a:glow>
                <a:outerShdw blurRad="50800" dist="38100" algn="l" rotWithShape="0">
                  <a:prstClr val="black">
                    <a:alpha val="40000"/>
                  </a:prstClr>
                </a:outerShdw>
              </a:effectLst>
              <a:latin typeface="Pristina" panose="03060402040406080204" pitchFamily="66" charset="0"/>
            </a:endParaRPr>
          </a:p>
        </p:txBody>
      </p:sp>
      <p:sp>
        <p:nvSpPr>
          <p:cNvPr id="8" name="Freeform: Shape 7">
            <a:extLst>
              <a:ext uri="{FF2B5EF4-FFF2-40B4-BE49-F238E27FC236}">
                <a16:creationId xmlns:a16="http://schemas.microsoft.com/office/drawing/2014/main" id="{9766ED0A-FCAD-8276-6CBF-4B3B6086D36E}"/>
              </a:ext>
            </a:extLst>
          </p:cNvPr>
          <p:cNvSpPr/>
          <p:nvPr/>
        </p:nvSpPr>
        <p:spPr>
          <a:xfrm>
            <a:off x="-2788920" y="-807720"/>
            <a:ext cx="10607830" cy="10226040"/>
          </a:xfrm>
          <a:custGeom>
            <a:avLst/>
            <a:gdLst>
              <a:gd name="connsiteX0" fmla="*/ 0 w 7483630"/>
              <a:gd name="connsiteY0" fmla="*/ 0 h 6858000"/>
              <a:gd name="connsiteX1" fmla="*/ 3432321 w 7483630"/>
              <a:gd name="connsiteY1" fmla="*/ 0 h 6858000"/>
              <a:gd name="connsiteX2" fmla="*/ 3409937 w 7483630"/>
              <a:gd name="connsiteY2" fmla="*/ 128593 h 6858000"/>
              <a:gd name="connsiteX3" fmla="*/ 2974694 w 7483630"/>
              <a:gd name="connsiteY3" fmla="*/ 2639028 h 6858000"/>
              <a:gd name="connsiteX4" fmla="*/ 6053559 w 7483630"/>
              <a:gd name="connsiteY4" fmla="*/ 4224759 h 6858000"/>
              <a:gd name="connsiteX5" fmla="*/ 6308203 w 7483630"/>
              <a:gd name="connsiteY5" fmla="*/ 5428527 h 6858000"/>
              <a:gd name="connsiteX6" fmla="*/ 7463657 w 7483630"/>
              <a:gd name="connsiteY6" fmla="*/ 6855081 h 6858000"/>
              <a:gd name="connsiteX7" fmla="*/ 7461727 w 7483630"/>
              <a:gd name="connsiteY7" fmla="*/ 6858000 h 6858000"/>
              <a:gd name="connsiteX8" fmla="*/ 0 w 7483630"/>
              <a:gd name="connsiteY8" fmla="*/ 6858000 h 6858000"/>
              <a:gd name="connsiteX9" fmla="*/ 0 w 7483630"/>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83630" h="6858000">
                <a:moveTo>
                  <a:pt x="0" y="0"/>
                </a:moveTo>
                <a:lnTo>
                  <a:pt x="3432321" y="0"/>
                </a:lnTo>
                <a:lnTo>
                  <a:pt x="3409937" y="128593"/>
                </a:lnTo>
                <a:cubicBezTo>
                  <a:pt x="3231575" y="954919"/>
                  <a:pt x="2657717" y="2070060"/>
                  <a:pt x="2974694" y="2639028"/>
                </a:cubicBezTo>
                <a:cubicBezTo>
                  <a:pt x="3435752" y="3466618"/>
                  <a:pt x="5497974" y="3759843"/>
                  <a:pt x="6053559" y="4224759"/>
                </a:cubicBezTo>
                <a:cubicBezTo>
                  <a:pt x="6609144" y="4689676"/>
                  <a:pt x="6090213" y="4973256"/>
                  <a:pt x="6308203" y="5428527"/>
                </a:cubicBezTo>
                <a:cubicBezTo>
                  <a:pt x="6505757" y="5841117"/>
                  <a:pt x="7647589" y="6496113"/>
                  <a:pt x="7463657" y="6855081"/>
                </a:cubicBezTo>
                <a:lnTo>
                  <a:pt x="7461727" y="6858000"/>
                </a:lnTo>
                <a:lnTo>
                  <a:pt x="0" y="6858000"/>
                </a:lnTo>
                <a:lnTo>
                  <a:pt x="0" y="0"/>
                </a:lnTo>
                <a:close/>
              </a:path>
            </a:pathLst>
          </a:custGeom>
          <a:solidFill>
            <a:schemeClr val="tx2">
              <a:lumMod val="60000"/>
              <a:lumOff val="40000"/>
            </a:schemeClr>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9" name="Freeform: Shape 8">
            <a:extLst>
              <a:ext uri="{FF2B5EF4-FFF2-40B4-BE49-F238E27FC236}">
                <a16:creationId xmlns:a16="http://schemas.microsoft.com/office/drawing/2014/main" id="{566F71B7-4B77-6E75-F996-9BBDA543EA95}"/>
              </a:ext>
            </a:extLst>
          </p:cNvPr>
          <p:cNvSpPr/>
          <p:nvPr/>
        </p:nvSpPr>
        <p:spPr>
          <a:xfrm>
            <a:off x="-2788920" y="411480"/>
            <a:ext cx="8610600" cy="9730696"/>
          </a:xfrm>
          <a:custGeom>
            <a:avLst/>
            <a:gdLst>
              <a:gd name="connsiteX0" fmla="*/ 0 w 7483630"/>
              <a:gd name="connsiteY0" fmla="*/ 0 h 6858000"/>
              <a:gd name="connsiteX1" fmla="*/ 3432321 w 7483630"/>
              <a:gd name="connsiteY1" fmla="*/ 0 h 6858000"/>
              <a:gd name="connsiteX2" fmla="*/ 3409937 w 7483630"/>
              <a:gd name="connsiteY2" fmla="*/ 128593 h 6858000"/>
              <a:gd name="connsiteX3" fmla="*/ 2974694 w 7483630"/>
              <a:gd name="connsiteY3" fmla="*/ 2639028 h 6858000"/>
              <a:gd name="connsiteX4" fmla="*/ 6053559 w 7483630"/>
              <a:gd name="connsiteY4" fmla="*/ 4224759 h 6858000"/>
              <a:gd name="connsiteX5" fmla="*/ 6308203 w 7483630"/>
              <a:gd name="connsiteY5" fmla="*/ 5428527 h 6858000"/>
              <a:gd name="connsiteX6" fmla="*/ 7463657 w 7483630"/>
              <a:gd name="connsiteY6" fmla="*/ 6855081 h 6858000"/>
              <a:gd name="connsiteX7" fmla="*/ 7461727 w 7483630"/>
              <a:gd name="connsiteY7" fmla="*/ 6858000 h 6858000"/>
              <a:gd name="connsiteX8" fmla="*/ 0 w 7483630"/>
              <a:gd name="connsiteY8" fmla="*/ 6858000 h 6858000"/>
              <a:gd name="connsiteX9" fmla="*/ 0 w 7483630"/>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83630" h="6858000">
                <a:moveTo>
                  <a:pt x="0" y="0"/>
                </a:moveTo>
                <a:lnTo>
                  <a:pt x="3432321" y="0"/>
                </a:lnTo>
                <a:lnTo>
                  <a:pt x="3409937" y="128593"/>
                </a:lnTo>
                <a:cubicBezTo>
                  <a:pt x="3231575" y="954919"/>
                  <a:pt x="2657717" y="2070060"/>
                  <a:pt x="2974694" y="2639028"/>
                </a:cubicBezTo>
                <a:cubicBezTo>
                  <a:pt x="3435752" y="3466618"/>
                  <a:pt x="5497974" y="3759843"/>
                  <a:pt x="6053559" y="4224759"/>
                </a:cubicBezTo>
                <a:cubicBezTo>
                  <a:pt x="6609144" y="4689676"/>
                  <a:pt x="6090213" y="4973256"/>
                  <a:pt x="6308203" y="5428527"/>
                </a:cubicBezTo>
                <a:cubicBezTo>
                  <a:pt x="6505757" y="5841117"/>
                  <a:pt x="7647589" y="6496113"/>
                  <a:pt x="7463657" y="6855081"/>
                </a:cubicBezTo>
                <a:lnTo>
                  <a:pt x="7461727" y="6858000"/>
                </a:lnTo>
                <a:lnTo>
                  <a:pt x="0" y="6858000"/>
                </a:lnTo>
                <a:lnTo>
                  <a:pt x="0" y="0"/>
                </a:lnTo>
                <a:close/>
              </a:path>
            </a:pathLst>
          </a:custGeom>
          <a:solidFill>
            <a:srgbClr val="0070C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 name="Freeform: Shape 9">
            <a:extLst>
              <a:ext uri="{FF2B5EF4-FFF2-40B4-BE49-F238E27FC236}">
                <a16:creationId xmlns:a16="http://schemas.microsoft.com/office/drawing/2014/main" id="{444B3D13-C1B8-2D9C-2069-CA4935F6A3FA}"/>
              </a:ext>
            </a:extLst>
          </p:cNvPr>
          <p:cNvSpPr/>
          <p:nvPr/>
        </p:nvSpPr>
        <p:spPr>
          <a:xfrm rot="10800000">
            <a:off x="6725534" y="-2442232"/>
            <a:ext cx="7483630" cy="8862016"/>
          </a:xfrm>
          <a:custGeom>
            <a:avLst/>
            <a:gdLst>
              <a:gd name="connsiteX0" fmla="*/ 0 w 7483630"/>
              <a:gd name="connsiteY0" fmla="*/ 0 h 6858000"/>
              <a:gd name="connsiteX1" fmla="*/ 3432321 w 7483630"/>
              <a:gd name="connsiteY1" fmla="*/ 0 h 6858000"/>
              <a:gd name="connsiteX2" fmla="*/ 3409937 w 7483630"/>
              <a:gd name="connsiteY2" fmla="*/ 128593 h 6858000"/>
              <a:gd name="connsiteX3" fmla="*/ 2974694 w 7483630"/>
              <a:gd name="connsiteY3" fmla="*/ 2639028 h 6858000"/>
              <a:gd name="connsiteX4" fmla="*/ 6053559 w 7483630"/>
              <a:gd name="connsiteY4" fmla="*/ 4224759 h 6858000"/>
              <a:gd name="connsiteX5" fmla="*/ 6308203 w 7483630"/>
              <a:gd name="connsiteY5" fmla="*/ 5428527 h 6858000"/>
              <a:gd name="connsiteX6" fmla="*/ 7463657 w 7483630"/>
              <a:gd name="connsiteY6" fmla="*/ 6855081 h 6858000"/>
              <a:gd name="connsiteX7" fmla="*/ 7461727 w 7483630"/>
              <a:gd name="connsiteY7" fmla="*/ 6858000 h 6858000"/>
              <a:gd name="connsiteX8" fmla="*/ 0 w 7483630"/>
              <a:gd name="connsiteY8" fmla="*/ 6858000 h 6858000"/>
              <a:gd name="connsiteX9" fmla="*/ 0 w 7483630"/>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83630" h="6858000">
                <a:moveTo>
                  <a:pt x="0" y="0"/>
                </a:moveTo>
                <a:lnTo>
                  <a:pt x="3432321" y="0"/>
                </a:lnTo>
                <a:lnTo>
                  <a:pt x="3409937" y="128593"/>
                </a:lnTo>
                <a:cubicBezTo>
                  <a:pt x="3231575" y="954919"/>
                  <a:pt x="2657717" y="2070060"/>
                  <a:pt x="2974694" y="2639028"/>
                </a:cubicBezTo>
                <a:cubicBezTo>
                  <a:pt x="3435752" y="3466618"/>
                  <a:pt x="5497974" y="3759843"/>
                  <a:pt x="6053559" y="4224759"/>
                </a:cubicBezTo>
                <a:cubicBezTo>
                  <a:pt x="6609144" y="4689676"/>
                  <a:pt x="6090213" y="4973256"/>
                  <a:pt x="6308203" y="5428527"/>
                </a:cubicBezTo>
                <a:cubicBezTo>
                  <a:pt x="6505757" y="5841117"/>
                  <a:pt x="7647589" y="6496113"/>
                  <a:pt x="7463657" y="6855081"/>
                </a:cubicBezTo>
                <a:lnTo>
                  <a:pt x="7461727" y="6858000"/>
                </a:lnTo>
                <a:lnTo>
                  <a:pt x="0" y="6858000"/>
                </a:lnTo>
                <a:lnTo>
                  <a:pt x="0" y="0"/>
                </a:lnTo>
                <a:close/>
              </a:path>
            </a:pathLst>
          </a:custGeom>
          <a:solidFill>
            <a:schemeClr val="accent3">
              <a:lumMod val="75000"/>
            </a:schemeClr>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1" name="Freeform: Shape 10">
            <a:extLst>
              <a:ext uri="{FF2B5EF4-FFF2-40B4-BE49-F238E27FC236}">
                <a16:creationId xmlns:a16="http://schemas.microsoft.com/office/drawing/2014/main" id="{8ED9302C-BEEE-0CF4-BDD5-C7578A88C960}"/>
              </a:ext>
            </a:extLst>
          </p:cNvPr>
          <p:cNvSpPr/>
          <p:nvPr/>
        </p:nvSpPr>
        <p:spPr>
          <a:xfrm rot="10800000">
            <a:off x="7818910" y="-2701401"/>
            <a:ext cx="7483630" cy="9113520"/>
          </a:xfrm>
          <a:custGeom>
            <a:avLst/>
            <a:gdLst>
              <a:gd name="connsiteX0" fmla="*/ 0 w 7483630"/>
              <a:gd name="connsiteY0" fmla="*/ 0 h 6858000"/>
              <a:gd name="connsiteX1" fmla="*/ 3432321 w 7483630"/>
              <a:gd name="connsiteY1" fmla="*/ 0 h 6858000"/>
              <a:gd name="connsiteX2" fmla="*/ 3409937 w 7483630"/>
              <a:gd name="connsiteY2" fmla="*/ 128593 h 6858000"/>
              <a:gd name="connsiteX3" fmla="*/ 2974694 w 7483630"/>
              <a:gd name="connsiteY3" fmla="*/ 2639028 h 6858000"/>
              <a:gd name="connsiteX4" fmla="*/ 6053559 w 7483630"/>
              <a:gd name="connsiteY4" fmla="*/ 4224759 h 6858000"/>
              <a:gd name="connsiteX5" fmla="*/ 6308203 w 7483630"/>
              <a:gd name="connsiteY5" fmla="*/ 5428527 h 6858000"/>
              <a:gd name="connsiteX6" fmla="*/ 7463657 w 7483630"/>
              <a:gd name="connsiteY6" fmla="*/ 6855081 h 6858000"/>
              <a:gd name="connsiteX7" fmla="*/ 7461727 w 7483630"/>
              <a:gd name="connsiteY7" fmla="*/ 6858000 h 6858000"/>
              <a:gd name="connsiteX8" fmla="*/ 0 w 7483630"/>
              <a:gd name="connsiteY8" fmla="*/ 6858000 h 6858000"/>
              <a:gd name="connsiteX9" fmla="*/ 0 w 7483630"/>
              <a:gd name="connsiteY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83630" h="6858000">
                <a:moveTo>
                  <a:pt x="0" y="0"/>
                </a:moveTo>
                <a:lnTo>
                  <a:pt x="3432321" y="0"/>
                </a:lnTo>
                <a:lnTo>
                  <a:pt x="3409937" y="128593"/>
                </a:lnTo>
                <a:cubicBezTo>
                  <a:pt x="3231575" y="954919"/>
                  <a:pt x="2657717" y="2070060"/>
                  <a:pt x="2974694" y="2639028"/>
                </a:cubicBezTo>
                <a:cubicBezTo>
                  <a:pt x="3435752" y="3466618"/>
                  <a:pt x="5497974" y="3759843"/>
                  <a:pt x="6053559" y="4224759"/>
                </a:cubicBezTo>
                <a:cubicBezTo>
                  <a:pt x="6609144" y="4689676"/>
                  <a:pt x="6090213" y="4973256"/>
                  <a:pt x="6308203" y="5428527"/>
                </a:cubicBezTo>
                <a:cubicBezTo>
                  <a:pt x="6505757" y="5841117"/>
                  <a:pt x="7647589" y="6496113"/>
                  <a:pt x="7463657" y="6855081"/>
                </a:cubicBezTo>
                <a:lnTo>
                  <a:pt x="7461727" y="6858000"/>
                </a:lnTo>
                <a:lnTo>
                  <a:pt x="0" y="6858000"/>
                </a:lnTo>
                <a:lnTo>
                  <a:pt x="0" y="0"/>
                </a:lnTo>
                <a:close/>
              </a:path>
            </a:pathLst>
          </a:custGeom>
          <a:solidFill>
            <a:srgbClr val="7030A0"/>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14745988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1753</TotalTime>
  <Words>2399</Words>
  <Application>Microsoft Office PowerPoint</Application>
  <PresentationFormat>Widescreen</PresentationFormat>
  <Paragraphs>233</Paragraphs>
  <Slides>14</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Pristina</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BHARATHRAJ K</dc:creator>
  <cp:lastModifiedBy>BHARATHRAJ K</cp:lastModifiedBy>
  <cp:revision>108</cp:revision>
  <dcterms:created xsi:type="dcterms:W3CDTF">2025-08-21T10:15:45Z</dcterms:created>
  <dcterms:modified xsi:type="dcterms:W3CDTF">2026-06-16T12:21:38Z</dcterms:modified>
</cp:coreProperties>
</file>