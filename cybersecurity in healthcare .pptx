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5" r:id="rId1"/>
  </p:sldMasterIdLst>
  <p:notesMasterIdLst>
    <p:notesMasterId r:id="rId18"/>
  </p:notesMasterIdLst>
  <p:sldIdLst>
    <p:sldId id="256" r:id="rId2"/>
    <p:sldId id="257" r:id="rId3"/>
    <p:sldId id="258" r:id="rId4"/>
    <p:sldId id="262" r:id="rId5"/>
    <p:sldId id="269" r:id="rId6"/>
    <p:sldId id="271" r:id="rId7"/>
    <p:sldId id="274" r:id="rId8"/>
    <p:sldId id="259" r:id="rId9"/>
    <p:sldId id="275" r:id="rId10"/>
    <p:sldId id="263" r:id="rId11"/>
    <p:sldId id="264" r:id="rId12"/>
    <p:sldId id="265" r:id="rId13"/>
    <p:sldId id="276" r:id="rId14"/>
    <p:sldId id="267" r:id="rId15"/>
    <p:sldId id="272" r:id="rId16"/>
    <p:sldId id="26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A5EC1-BA5F-44F9-84EE-EB55D947312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D0D45-70C7-4379-A711-DB882D360A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5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14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90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678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273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382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74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104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86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02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547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40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5140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703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9176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337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062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6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>
                <a:lumMod val="40000"/>
                <a:lumOff val="60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F68D8DA-F976-40C3-930B-76A04617D8C1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7CA9F5A-90CE-4CAA-9C19-6C044502B7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9719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  <p:sldLayoutId id="2147483937" r:id="rId12"/>
    <p:sldLayoutId id="2147483938" r:id="rId13"/>
    <p:sldLayoutId id="2147483939" r:id="rId14"/>
    <p:sldLayoutId id="2147483940" r:id="rId15"/>
    <p:sldLayoutId id="2147483941" r:id="rId16"/>
    <p:sldLayoutId id="21474839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nrl.northumbria.ac.uk/" TargetMode="External"/><Relationship Id="rId2" Type="http://schemas.openxmlformats.org/officeDocument/2006/relationships/hyperlink" Target="https://www.researchgate.net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hewire.in/government/aiims-servers-cyberattack-ransomware-rajya-sabha" TargetMode="External"/><Relationship Id="rId5" Type="http://schemas.openxmlformats.org/officeDocument/2006/relationships/hyperlink" Target="https://blog.lukmaanias.com/2023/03/22/topic-cyberattack-on-critical-information-ci-infrastructure-a-case-study-of-ransomware-on-aiims/" TargetMode="External"/><Relationship Id="rId4" Type="http://schemas.openxmlformats.org/officeDocument/2006/relationships/hyperlink" Target="https://podiatrym.com/pdf/2021/7/Chua821web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ekhdecoded.com/artificial-intelligence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>
                <a:lumMod val="40000"/>
                <a:lumOff val="60000"/>
                <a:alpha val="97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9427-C910-B942-6B30-63A2807A1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2398" y="2863970"/>
            <a:ext cx="9986334" cy="845390"/>
          </a:xfrm>
        </p:spPr>
        <p:txBody>
          <a:bodyPr>
            <a:normAutofit fontScale="90000"/>
          </a:bodyPr>
          <a:lstStyle/>
          <a:p>
            <a:pPr algn="ctr"/>
            <a:br>
              <a:rPr lang="en-IN" b="0" i="0" dirty="0">
                <a:solidFill>
                  <a:schemeClr val="accent6"/>
                </a:solidFill>
                <a:effectLst/>
                <a:latin typeface="Söhne"/>
              </a:rPr>
            </a:br>
            <a:r>
              <a:rPr lang="en-IN" sz="5300" b="0" i="0" dirty="0">
                <a:solidFill>
                  <a:schemeClr val="accent6"/>
                </a:solidFill>
                <a:effectLst/>
                <a:latin typeface="Söhne"/>
              </a:rPr>
              <a:t>"</a:t>
            </a:r>
            <a:r>
              <a:rPr lang="en-IN" sz="6700" b="1" i="0" dirty="0">
                <a:solidFill>
                  <a:schemeClr val="accent6"/>
                </a:solidFill>
                <a:effectLst/>
                <a:latin typeface="Algerian" panose="04020705040A02060702" pitchFamily="82" charset="0"/>
              </a:rPr>
              <a:t>Cybersecurity </a:t>
            </a:r>
            <a:br>
              <a:rPr lang="en-IN" sz="6700" b="1" i="0" dirty="0">
                <a:solidFill>
                  <a:schemeClr val="accent6"/>
                </a:solidFill>
                <a:effectLst/>
                <a:latin typeface="Algerian" panose="04020705040A02060702" pitchFamily="82" charset="0"/>
              </a:rPr>
            </a:br>
            <a:r>
              <a:rPr lang="en-IN" sz="6700" b="1" i="0" dirty="0">
                <a:solidFill>
                  <a:schemeClr val="accent6"/>
                </a:solidFill>
                <a:effectLst/>
                <a:latin typeface="Algerian" panose="04020705040A02060702" pitchFamily="82" charset="0"/>
              </a:rPr>
              <a:t>in </a:t>
            </a:r>
            <a:br>
              <a:rPr lang="en-IN" sz="6700" b="1" i="0" dirty="0">
                <a:solidFill>
                  <a:schemeClr val="accent6"/>
                </a:solidFill>
                <a:effectLst/>
                <a:latin typeface="Algerian" panose="04020705040A02060702" pitchFamily="82" charset="0"/>
              </a:rPr>
            </a:br>
            <a:r>
              <a:rPr lang="en-IN" sz="6700" b="1" i="0" dirty="0">
                <a:solidFill>
                  <a:schemeClr val="accent6"/>
                </a:solidFill>
                <a:effectLst/>
                <a:latin typeface="Algerian" panose="04020705040A02060702" pitchFamily="82" charset="0"/>
              </a:rPr>
              <a:t>Healthcare</a:t>
            </a:r>
            <a:r>
              <a:rPr lang="en-IN" sz="5300" b="0" i="0" dirty="0">
                <a:solidFill>
                  <a:schemeClr val="accent6"/>
                </a:solidFill>
                <a:effectLst/>
                <a:latin typeface="Söhne"/>
              </a:rPr>
              <a:t>"</a:t>
            </a:r>
            <a:endParaRPr lang="en-IN" dirty="0">
              <a:solidFill>
                <a:schemeClr val="accent6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4CC8C-0212-2EAB-F366-6DAD279232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14603" t="3022" r="9207" b="16422"/>
          <a:stretch/>
        </p:blipFill>
        <p:spPr>
          <a:xfrm>
            <a:off x="-1" y="3833334"/>
            <a:ext cx="5562601" cy="30246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2C2E0010-896D-90A2-4425-D8CAFD4674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71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133662-6739-F390-92B2-8A690C544545}"/>
              </a:ext>
            </a:extLst>
          </p:cNvPr>
          <p:cNvSpPr txBox="1"/>
          <p:nvPr/>
        </p:nvSpPr>
        <p:spPr>
          <a:xfrm>
            <a:off x="3110636" y="0"/>
            <a:ext cx="61506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  <a:endParaRPr lang="en-IN" sz="4400" b="1" i="0" u="sng" dirty="0">
              <a:solidFill>
                <a:schemeClr val="accent6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0DD31C-390D-2DAF-F642-C48B5283B945}"/>
              </a:ext>
            </a:extLst>
          </p:cNvPr>
          <p:cNvSpPr txBox="1"/>
          <p:nvPr/>
        </p:nvSpPr>
        <p:spPr>
          <a:xfrm>
            <a:off x="998664" y="1119586"/>
            <a:ext cx="9868619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Landscape.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Security </a:t>
            </a:r>
            <a:r>
              <a:rPr lang="en-I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reaches in Healthcare.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Cybersecurity in Healthcare.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 modernization in healthcare.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Measures and Best Practices in Healthcare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US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Impact of COVID-19 on Healthcare Cybersecurity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Case study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en-IN" sz="22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US" sz="220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39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12E58-BC48-2702-BFBA-F2F59E53418F}"/>
              </a:ext>
            </a:extLst>
          </p:cNvPr>
          <p:cNvSpPr txBox="1"/>
          <p:nvPr/>
        </p:nvSpPr>
        <p:spPr>
          <a:xfrm>
            <a:off x="4216121" y="95350"/>
            <a:ext cx="37597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13961-6418-02D2-FD34-992F5BCB2D00}"/>
              </a:ext>
            </a:extLst>
          </p:cNvPr>
          <p:cNvSpPr txBox="1"/>
          <p:nvPr/>
        </p:nvSpPr>
        <p:spPr>
          <a:xfrm>
            <a:off x="12561" y="913557"/>
            <a:ext cx="785473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Safeguarding healthcare data and systems involves ensuring the secrecy, accuracy, and accessibility of information, known as the CIA triad in cybersecurity.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critical issue for healthcare organizations, as they collect and store a large amount of sensitive patient information, such as medical records, financial data, and insurance information.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a valuable target for cybercriminals, who may use it to commit identity theft, fraud, or blackmail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1D8D62-D044-07A1-18D2-0F1AAECA79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101" t="14884" r="6579" b="3203"/>
          <a:stretch/>
        </p:blipFill>
        <p:spPr>
          <a:xfrm>
            <a:off x="7779968" y="1125431"/>
            <a:ext cx="4494362" cy="4899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00548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29F06F-60CD-4454-B1A9-5A1EB1BC2CF6}"/>
              </a:ext>
            </a:extLst>
          </p:cNvPr>
          <p:cNvSpPr txBox="1"/>
          <p:nvPr/>
        </p:nvSpPr>
        <p:spPr>
          <a:xfrm>
            <a:off x="2753108" y="411268"/>
            <a:ext cx="73317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4400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Landscape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FC129-F67D-A1E5-1A17-02D494F0DB68}"/>
              </a:ext>
            </a:extLst>
          </p:cNvPr>
          <p:cNvSpPr txBox="1"/>
          <p:nvPr/>
        </p:nvSpPr>
        <p:spPr>
          <a:xfrm>
            <a:off x="673768" y="1491916"/>
            <a:ext cx="1084446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healthcare data landscape includes the collection of data from various sources.</a:t>
            </a:r>
          </a:p>
          <a:p>
            <a:pPr marL="1714500" lvl="3" indent="-342900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Records (EHRs)</a:t>
            </a:r>
          </a:p>
          <a:p>
            <a:pPr marL="1714500" lvl="3" indent="-342900">
              <a:lnSpc>
                <a:spcPct val="150000"/>
              </a:lnSpc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data</a:t>
            </a:r>
          </a:p>
          <a:p>
            <a:pPr marL="1714500" lvl="3" indent="-342900">
              <a:lnSpc>
                <a:spcPct val="150000"/>
              </a:lnSpc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and Billing Data</a:t>
            </a:r>
          </a:p>
          <a:p>
            <a:pPr marL="1714500" lvl="3" indent="-342900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Internet of Medical Things (IoMT)</a:t>
            </a:r>
          </a:p>
          <a:p>
            <a:pPr marL="1714500" lvl="3" indent="-342900">
              <a:lnSpc>
                <a:spcPct val="150000"/>
              </a:lnSpc>
              <a:buAutoNum type="arabicPeriod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Genomic and Research Data</a:t>
            </a:r>
          </a:p>
          <a:p>
            <a:pPr marL="1714500" lvl="3" indent="-342900">
              <a:lnSpc>
                <a:spcPct val="150000"/>
              </a:lnSpc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and Health Information Exchange (HIE)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007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4267F8-492A-B2C3-8ABF-A67880A8CEE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75" y="930484"/>
            <a:ext cx="5624423" cy="51683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775ED4-AE0C-8676-B9A5-4DA23459FC63}"/>
              </a:ext>
            </a:extLst>
          </p:cNvPr>
          <p:cNvSpPr txBox="1"/>
          <p:nvPr/>
        </p:nvSpPr>
        <p:spPr>
          <a:xfrm>
            <a:off x="4095171" y="161043"/>
            <a:ext cx="429595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IOMT Devices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DA895E-0749-8416-D513-0C6C9585D6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853" y="930484"/>
            <a:ext cx="5753819" cy="516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298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15E0F-A581-55D8-F1DF-FB55A881168A}"/>
              </a:ext>
            </a:extLst>
          </p:cNvPr>
          <p:cNvSpPr txBox="1"/>
          <p:nvPr/>
        </p:nvSpPr>
        <p:spPr>
          <a:xfrm>
            <a:off x="2780849" y="481439"/>
            <a:ext cx="70446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IOMT devices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EB84F-20C2-8B6D-35CD-BB48CEEC3F41}"/>
              </a:ext>
            </a:extLst>
          </p:cNvPr>
          <p:cNvSpPr txBox="1"/>
          <p:nvPr/>
        </p:nvSpPr>
        <p:spPr>
          <a:xfrm>
            <a:off x="1506746" y="1589362"/>
            <a:ext cx="831874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Monitoring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Patient-doctor communication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usage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Care and Telemedicine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Workflow and Efficiency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8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Diagnostics and Treatment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551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BD459A-B720-DDF2-7435-01F469F06B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33"/>
          <a:stretch/>
        </p:blipFill>
        <p:spPr>
          <a:xfrm>
            <a:off x="394252" y="344557"/>
            <a:ext cx="11430000" cy="6241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97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84B573-EEA0-ECF2-5B8E-512E2DEB3343}"/>
              </a:ext>
            </a:extLst>
          </p:cNvPr>
          <p:cNvSpPr txBox="1"/>
          <p:nvPr/>
        </p:nvSpPr>
        <p:spPr>
          <a:xfrm>
            <a:off x="604757" y="228821"/>
            <a:ext cx="11225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Cybersecurity in Healthcare</a:t>
            </a:r>
            <a:endParaRPr lang="en-IN" sz="4400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982D30-8476-5F4B-E0A3-3730CF3AD66D}"/>
              </a:ext>
            </a:extLst>
          </p:cNvPr>
          <p:cNvSpPr txBox="1"/>
          <p:nvPr/>
        </p:nvSpPr>
        <p:spPr>
          <a:xfrm>
            <a:off x="604757" y="968887"/>
            <a:ext cx="7426435" cy="5889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Protection of Sensitive Data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Trust and Confidentiality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Preventing Disruption of Services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Compliance with Regulations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Device Security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and Accuracy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</a:t>
            </a:r>
          </a:p>
          <a:p>
            <a:pPr marL="1371600" lvl="2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40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Development Protection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41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6130E46-8060-865B-C064-6BBD8A3FDC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01" b="9057"/>
          <a:stretch/>
        </p:blipFill>
        <p:spPr>
          <a:xfrm>
            <a:off x="1255059" y="1035170"/>
            <a:ext cx="9681882" cy="54001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029CB3-D684-0E5D-DE87-CF61A7D52726}"/>
              </a:ext>
            </a:extLst>
          </p:cNvPr>
          <p:cNvSpPr txBox="1"/>
          <p:nvPr/>
        </p:nvSpPr>
        <p:spPr>
          <a:xfrm>
            <a:off x="974785" y="69011"/>
            <a:ext cx="10408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 modernization in Healthcare </a:t>
            </a:r>
          </a:p>
        </p:txBody>
      </p:sp>
    </p:spTree>
    <p:extLst>
      <p:ext uri="{BB962C8B-B14F-4D97-AF65-F5344CB8AC3E}">
        <p14:creationId xmlns:p14="http://schemas.microsoft.com/office/powerpoint/2010/main" val="380810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6A8E6-B80D-EDD9-A51F-242470745DC2}"/>
              </a:ext>
            </a:extLst>
          </p:cNvPr>
          <p:cNvSpPr txBox="1"/>
          <p:nvPr/>
        </p:nvSpPr>
        <p:spPr>
          <a:xfrm>
            <a:off x="2825983" y="332736"/>
            <a:ext cx="69649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916967-1DBE-DB27-9148-8D3ECF54CAE3}"/>
              </a:ext>
            </a:extLst>
          </p:cNvPr>
          <p:cNvSpPr txBox="1"/>
          <p:nvPr/>
        </p:nvSpPr>
        <p:spPr>
          <a:xfrm>
            <a:off x="160422" y="1102177"/>
            <a:ext cx="11942438" cy="5109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is the process of following laws, regulations, and other rules set by governments and regulatory bodies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Personal Data Protection Bill, 2023 (DPDPB):  </a:t>
            </a:r>
            <a:r>
              <a:rPr lang="en-US" sz="2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aims to regulate the collection, storage, and use of personal data by organizations.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b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to be informed, </a:t>
            </a:r>
            <a:r>
              <a:rPr lang="en-IN" sz="2200" b="1" i="0" u="sng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 of access, Right to erasure</a:t>
            </a:r>
            <a:r>
              <a:rPr lang="en-IN" sz="2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HIPAA (Health Insurance Portability and Accountability Act):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protecting the privacy and security of patient information (PHI) by setting standards for its safeguarding.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HITECH Act (Health Information Technology for Economic and Clinical Health Act): 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in conjunction with HIPAA, emphasizing the secure handling of electronic protected health information (ePHI) and promoting the adoption of health information technology.</a:t>
            </a:r>
            <a:endParaRPr lang="en-IN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86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F78F61-8866-4A3C-178C-9DD160F19CCA}"/>
              </a:ext>
            </a:extLst>
          </p:cNvPr>
          <p:cNvSpPr txBox="1"/>
          <p:nvPr/>
        </p:nvSpPr>
        <p:spPr>
          <a:xfrm>
            <a:off x="0" y="152610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Measures and Best Practices in healthcare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78439-CBF7-1B3F-23E8-D4933E09D99D}"/>
              </a:ext>
            </a:extLst>
          </p:cNvPr>
          <p:cNvSpPr txBox="1"/>
          <p:nvPr/>
        </p:nvSpPr>
        <p:spPr>
          <a:xfrm>
            <a:off x="1521750" y="1599160"/>
            <a:ext cx="942140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and Authentication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software updates and patches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training on cybersecurity awareness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response planning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Network Infrastructure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 Telehealth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Backups and Recovery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070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9E1F39-FA0C-85F1-992B-B5A9E4F06971}"/>
              </a:ext>
            </a:extLst>
          </p:cNvPr>
          <p:cNvSpPr txBox="1"/>
          <p:nvPr/>
        </p:nvSpPr>
        <p:spPr>
          <a:xfrm>
            <a:off x="1354419" y="515221"/>
            <a:ext cx="97424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of COVID-19 on Healthcare Cybersecurity</a:t>
            </a:r>
            <a:endParaRPr lang="en-IN" sz="4400" b="1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C9E119-C4DA-1B37-C2C1-3174A5308784}"/>
              </a:ext>
            </a:extLst>
          </p:cNvPr>
          <p:cNvSpPr txBox="1"/>
          <p:nvPr/>
        </p:nvSpPr>
        <p:spPr>
          <a:xfrm>
            <a:off x="1845447" y="1961771"/>
            <a:ext cx="6358274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cyber threat attacks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strain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Exploitation of vulnerabilities in telemedicine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Increased insider threats</a:t>
            </a:r>
          </a:p>
        </p:txBody>
      </p:sp>
    </p:spTree>
    <p:extLst>
      <p:ext uri="{BB962C8B-B14F-4D97-AF65-F5344CB8AC3E}">
        <p14:creationId xmlns:p14="http://schemas.microsoft.com/office/powerpoint/2010/main" val="1384170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0E3477-D639-1E44-5FA0-432236B9F620}"/>
              </a:ext>
            </a:extLst>
          </p:cNvPr>
          <p:cNvSpPr txBox="1"/>
          <p:nvPr/>
        </p:nvSpPr>
        <p:spPr>
          <a:xfrm>
            <a:off x="227258" y="261668"/>
            <a:ext cx="11737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 study: RANSOMWARE ATTACK ON AIIMS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4B5BF-C7C7-C947-E568-240DC9A6B2D3}"/>
              </a:ext>
            </a:extLst>
          </p:cNvPr>
          <p:cNvSpPr txBox="1"/>
          <p:nvPr/>
        </p:nvSpPr>
        <p:spPr>
          <a:xfrm>
            <a:off x="0" y="1101519"/>
            <a:ext cx="12131615" cy="611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November 23, 2022: AIIMS New Delhi faced a major cyberattack, its servers and eHospital network stopped working forcing AIIMS to adopt all functions to  manually operate.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attackers compromised the personal identifiable information (PII) of patients and healthcare workers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CERT-In discovered two Proton mail associated with the hackers: "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dog2398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 and "</a:t>
            </a:r>
            <a:r>
              <a:rPr lang="en-US" sz="24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mouse63209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.“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targeted servers were infected with three ransomware : </a:t>
            </a:r>
            <a:r>
              <a:rPr lang="en-US" sz="2400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Wammacry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Mimikatz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400" b="1" i="0" dirty="0">
                <a:solidFill>
                  <a:schemeClr val="accent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Trojan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7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Cyberattack was the result of an </a:t>
            </a: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"unorganized ICT (information and communications technology) network without centralized monitoring or system administration.”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623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70C9A5-F6BB-DC9C-08CA-07C569D75729}"/>
              </a:ext>
            </a:extLst>
          </p:cNvPr>
          <p:cNvSpPr txBox="1"/>
          <p:nvPr/>
        </p:nvSpPr>
        <p:spPr>
          <a:xfrm>
            <a:off x="2312333" y="498668"/>
            <a:ext cx="6432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59C22-8F01-2C1B-7075-5B9C45F51278}"/>
              </a:ext>
            </a:extLst>
          </p:cNvPr>
          <p:cNvSpPr txBox="1"/>
          <p:nvPr/>
        </p:nvSpPr>
        <p:spPr>
          <a:xfrm>
            <a:off x="497305" y="1394720"/>
            <a:ext cx="11519291" cy="441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Healthcare organizations are prime targets for cyberattacks due to the valuable data they hold, such as patient medical records and financial information.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Cyberattacks on healthcare organizations can have severe consequences, including data breaches, disruptions to patient care, and reputational damage.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prioritizing cybersecurity, healthcare organizations can safeguard patient privacy, ensure the delivery of high-quality care, and maintain public trust</a:t>
            </a:r>
          </a:p>
        </p:txBody>
      </p:sp>
    </p:spTree>
    <p:extLst>
      <p:ext uri="{BB962C8B-B14F-4D97-AF65-F5344CB8AC3E}">
        <p14:creationId xmlns:p14="http://schemas.microsoft.com/office/powerpoint/2010/main" val="1573373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0E53B2-858C-274A-5857-47127FEB3C21}"/>
              </a:ext>
            </a:extLst>
          </p:cNvPr>
          <p:cNvSpPr txBox="1"/>
          <p:nvPr/>
        </p:nvSpPr>
        <p:spPr>
          <a:xfrm>
            <a:off x="414068" y="94891"/>
            <a:ext cx="10058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IN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A573A-0272-24F2-6D14-BC66BFC1DD9B}"/>
              </a:ext>
            </a:extLst>
          </p:cNvPr>
          <p:cNvSpPr txBox="1"/>
          <p:nvPr/>
        </p:nvSpPr>
        <p:spPr>
          <a:xfrm>
            <a:off x="282545" y="1020989"/>
            <a:ext cx="1132648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Effects of Cyber-Security on Healthcare Industry, 2017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https://www.researchgate.net//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 healthcare: a narrative review of trends, threats and ways forward, 2018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https://nrl.northumbria.ac.uk/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 the healthcare security, 2021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https://podiatrym.com/pdf/2021/7/Chua821web.pdf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2023/03/22/topic-cyberattack-on-critical-information-ci-infrastructure-a-case-study-of-ransomware-on-aiims/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https://thewire.in/government/aiims-servers-cyberattack-ransomware-rajya-sabha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774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41CA7D9-A7F9-EB08-3831-C7A0DE924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1320" y="-15430"/>
            <a:ext cx="11329359" cy="56351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F1BC9E-7D83-047B-0EB2-26807C08C952}"/>
              </a:ext>
            </a:extLst>
          </p:cNvPr>
          <p:cNvSpPr txBox="1"/>
          <p:nvPr/>
        </p:nvSpPr>
        <p:spPr>
          <a:xfrm>
            <a:off x="4416724" y="5619746"/>
            <a:ext cx="38215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594360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</TotalTime>
  <Words>695</Words>
  <Application>Microsoft Office PowerPoint</Application>
  <PresentationFormat>Widescreen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Algerian</vt:lpstr>
      <vt:lpstr>Arial</vt:lpstr>
      <vt:lpstr>Calibri</vt:lpstr>
      <vt:lpstr>Century Gothic</vt:lpstr>
      <vt:lpstr>Söhne</vt:lpstr>
      <vt:lpstr>Times New Roman</vt:lpstr>
      <vt:lpstr>Wingdings</vt:lpstr>
      <vt:lpstr>Wingdings 3</vt:lpstr>
      <vt:lpstr>Slice</vt:lpstr>
      <vt:lpstr> "Cybersecurity  in  Healthcare"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BHARATHRAJ K</dc:creator>
  <cp:lastModifiedBy>BHARATHRAJ K</cp:lastModifiedBy>
  <cp:revision>27</cp:revision>
  <dcterms:created xsi:type="dcterms:W3CDTF">2023-11-20T16:06:14Z</dcterms:created>
  <dcterms:modified xsi:type="dcterms:W3CDTF">2026-06-16T12:19:54Z</dcterms:modified>
</cp:coreProperties>
</file>